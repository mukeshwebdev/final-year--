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7419" y="143002"/>
            <a:ext cx="239141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E2B4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E2B4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E2B4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9200" y="1234439"/>
            <a:ext cx="3566159" cy="310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E2B4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30808"/>
            <a:ext cx="9144000" cy="4013200"/>
          </a:xfrm>
          <a:custGeom>
            <a:avLst/>
            <a:gdLst/>
            <a:ahLst/>
            <a:cxnLst/>
            <a:rect l="l" t="t" r="r" b="b"/>
            <a:pathLst>
              <a:path w="9144000" h="4013200">
                <a:moveTo>
                  <a:pt x="0" y="4012691"/>
                </a:moveTo>
                <a:lnTo>
                  <a:pt x="9144000" y="4012691"/>
                </a:lnTo>
                <a:lnTo>
                  <a:pt x="9144000" y="0"/>
                </a:lnTo>
                <a:lnTo>
                  <a:pt x="0" y="0"/>
                </a:lnTo>
                <a:lnTo>
                  <a:pt x="0" y="4012691"/>
                </a:lnTo>
                <a:close/>
              </a:path>
            </a:pathLst>
          </a:custGeom>
          <a:solidFill>
            <a:srgbClr val="EF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73152"/>
            <a:ext cx="9144000" cy="875030"/>
          </a:xfrm>
          <a:custGeom>
            <a:avLst/>
            <a:gdLst/>
            <a:ahLst/>
            <a:cxnLst/>
            <a:rect l="l" t="t" r="r" b="b"/>
            <a:pathLst>
              <a:path w="9144000" h="875030">
                <a:moveTo>
                  <a:pt x="0" y="874776"/>
                </a:moveTo>
                <a:lnTo>
                  <a:pt x="9144000" y="874776"/>
                </a:lnTo>
                <a:lnTo>
                  <a:pt x="9144000" y="0"/>
                </a:lnTo>
                <a:lnTo>
                  <a:pt x="0" y="0"/>
                </a:lnTo>
                <a:lnTo>
                  <a:pt x="0" y="874776"/>
                </a:lnTo>
                <a:close/>
              </a:path>
            </a:pathLst>
          </a:custGeom>
          <a:solidFill>
            <a:srgbClr val="EF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130935"/>
          </a:xfrm>
          <a:custGeom>
            <a:avLst/>
            <a:gdLst/>
            <a:ahLst/>
            <a:cxnLst/>
            <a:rect l="l" t="t" r="r" b="b"/>
            <a:pathLst>
              <a:path w="9144000" h="1130935">
                <a:moveTo>
                  <a:pt x="9144000" y="947940"/>
                </a:moveTo>
                <a:lnTo>
                  <a:pt x="0" y="947940"/>
                </a:lnTo>
                <a:lnTo>
                  <a:pt x="0" y="1130808"/>
                </a:lnTo>
                <a:lnTo>
                  <a:pt x="9144000" y="1130808"/>
                </a:lnTo>
                <a:lnTo>
                  <a:pt x="9144000" y="947940"/>
                </a:lnTo>
                <a:close/>
              </a:path>
              <a:path w="9144000" h="1130935">
                <a:moveTo>
                  <a:pt x="9144000" y="0"/>
                </a:moveTo>
                <a:lnTo>
                  <a:pt x="0" y="0"/>
                </a:lnTo>
                <a:lnTo>
                  <a:pt x="0" y="73152"/>
                </a:lnTo>
                <a:lnTo>
                  <a:pt x="9144000" y="73152"/>
                </a:lnTo>
                <a:lnTo>
                  <a:pt x="91440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14300"/>
            <a:ext cx="685800" cy="640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6994" y="114300"/>
            <a:ext cx="552322" cy="6262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419" y="143002"/>
            <a:ext cx="61944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E2B4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365" y="1185544"/>
            <a:ext cx="8129270" cy="1475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3638" y="4878959"/>
            <a:ext cx="3505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6546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28825"/>
            <a:ext cx="9144000" cy="6845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096010" algn="ctr">
              <a:lnSpc>
                <a:spcPct val="100000"/>
              </a:lnSpc>
              <a:spcBef>
                <a:spcPts val="390"/>
              </a:spcBef>
            </a:pP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PSNA</a:t>
            </a:r>
            <a:r>
              <a:rPr sz="1400" b="1" spc="-9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COLLEGE</a:t>
            </a:r>
            <a:r>
              <a:rPr sz="1400" b="1" spc="-3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OF</a:t>
            </a:r>
            <a:r>
              <a:rPr sz="1400" b="1" spc="-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E2B46"/>
                </a:solidFill>
                <a:latin typeface="Trebuchet MS"/>
                <a:cs typeface="Trebuchet MS"/>
              </a:rPr>
              <a:t>ENGINEERING</a:t>
            </a:r>
            <a:r>
              <a:rPr sz="1400" b="1" spc="-12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AND</a:t>
            </a:r>
            <a:r>
              <a:rPr sz="1400" b="1" spc="-3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TECHNOLOGY</a:t>
            </a:r>
            <a:r>
              <a:rPr sz="1400" b="1" spc="-1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dirty="0">
                <a:solidFill>
                  <a:srgbClr val="0E2B46"/>
                </a:solidFill>
                <a:latin typeface="Trebuchet MS"/>
                <a:cs typeface="Trebuchet MS"/>
              </a:rPr>
              <a:t>–</a:t>
            </a:r>
            <a:r>
              <a:rPr sz="1400" b="1" spc="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E2B46"/>
                </a:solidFill>
                <a:latin typeface="Trebuchet MS"/>
                <a:cs typeface="Trebuchet MS"/>
              </a:rPr>
              <a:t>DINDIGUL</a:t>
            </a:r>
            <a:endParaRPr sz="1400">
              <a:latin typeface="Trebuchet MS"/>
              <a:cs typeface="Trebuchet MS"/>
            </a:endParaRPr>
          </a:p>
          <a:p>
            <a:pPr marL="1096010" algn="ctr">
              <a:lnSpc>
                <a:spcPct val="100000"/>
              </a:lnSpc>
              <a:spcBef>
                <a:spcPts val="250"/>
              </a:spcBef>
            </a:pP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DEPARTMENT</a:t>
            </a:r>
            <a:r>
              <a:rPr sz="1200" b="1" spc="1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200" b="1" dirty="0">
                <a:solidFill>
                  <a:srgbClr val="0E2B46"/>
                </a:solidFill>
                <a:latin typeface="Calibri"/>
                <a:cs typeface="Calibri"/>
              </a:rPr>
              <a:t>OF</a:t>
            </a:r>
            <a:r>
              <a:rPr sz="1200" b="1" spc="-1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200" b="1" spc="-20" dirty="0">
                <a:solidFill>
                  <a:srgbClr val="0E2B46"/>
                </a:solidFill>
                <a:latin typeface="Calibri"/>
                <a:cs typeface="Calibri"/>
              </a:rPr>
              <a:t>INFORMATION</a:t>
            </a:r>
            <a:r>
              <a:rPr sz="1200" b="1" spc="-1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TECHNOLOGY</a:t>
            </a:r>
            <a:endParaRPr sz="1200">
              <a:latin typeface="Calibri"/>
              <a:cs typeface="Calibri"/>
            </a:endParaRPr>
          </a:p>
          <a:p>
            <a:pPr marL="1096645" algn="ctr">
              <a:lnSpc>
                <a:spcPct val="100000"/>
              </a:lnSpc>
              <a:spcBef>
                <a:spcPts val="209"/>
              </a:spcBef>
            </a:pP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IT2891</a:t>
            </a:r>
            <a:r>
              <a:rPr sz="1100" spc="-2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–</a:t>
            </a:r>
            <a:r>
              <a:rPr sz="1100" spc="-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PROJECT</a:t>
            </a:r>
            <a:r>
              <a:rPr sz="1100" spc="-3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WORK</a:t>
            </a:r>
            <a:r>
              <a:rPr sz="1100" spc="-2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(FINAL</a:t>
            </a:r>
            <a:r>
              <a:rPr sz="1100" spc="-10" dirty="0">
                <a:solidFill>
                  <a:srgbClr val="465469"/>
                </a:solidFill>
                <a:latin typeface="Calibri"/>
                <a:cs typeface="Calibri"/>
              </a:rPr>
              <a:t xml:space="preserve"> REVIEW)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0685" y="1183589"/>
            <a:ext cx="58013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solidFill>
                  <a:srgbClr val="0E2B46"/>
                </a:solidFill>
                <a:latin typeface="Trebuchet MS"/>
                <a:cs typeface="Trebuchet MS"/>
              </a:rPr>
              <a:t>FIR Management System — AI-Powered Police Station Portal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2423160"/>
            <a:ext cx="6400800" cy="228600"/>
          </a:xfrm>
          <a:custGeom>
            <a:avLst/>
            <a:gdLst/>
            <a:ahLst/>
            <a:cxnLst/>
            <a:rect l="l" t="t" r="r" b="b"/>
            <a:pathLst>
              <a:path w="6400800" h="228600">
                <a:moveTo>
                  <a:pt x="6400800" y="0"/>
                </a:moveTo>
                <a:lnTo>
                  <a:pt x="0" y="0"/>
                </a:lnTo>
                <a:lnTo>
                  <a:pt x="0" y="228600"/>
                </a:lnTo>
                <a:lnTo>
                  <a:pt x="6400800" y="228600"/>
                </a:lnTo>
                <a:lnTo>
                  <a:pt x="6400800" y="0"/>
                </a:lnTo>
                <a:close/>
              </a:path>
            </a:pathLst>
          </a:custGeom>
          <a:solidFill>
            <a:srgbClr val="E8F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2880360"/>
            <a:ext cx="6400800" cy="228600"/>
          </a:xfrm>
          <a:custGeom>
            <a:avLst/>
            <a:gdLst/>
            <a:ahLst/>
            <a:cxnLst/>
            <a:rect l="l" t="t" r="r" b="b"/>
            <a:pathLst>
              <a:path w="6400800" h="228600">
                <a:moveTo>
                  <a:pt x="6400800" y="0"/>
                </a:moveTo>
                <a:lnTo>
                  <a:pt x="0" y="0"/>
                </a:lnTo>
                <a:lnTo>
                  <a:pt x="0" y="228600"/>
                </a:lnTo>
                <a:lnTo>
                  <a:pt x="6400800" y="228600"/>
                </a:lnTo>
                <a:lnTo>
                  <a:pt x="6400800" y="0"/>
                </a:lnTo>
                <a:close/>
              </a:path>
            </a:pathLst>
          </a:custGeom>
          <a:solidFill>
            <a:srgbClr val="E8F5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84648"/>
              </p:ext>
            </p:extLst>
          </p:nvPr>
        </p:nvGraphicFramePr>
        <p:xfrm>
          <a:off x="1295400" y="2090728"/>
          <a:ext cx="6400800" cy="1318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</a:t>
                      </a:r>
                      <a:r>
                        <a:rPr sz="11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D9387"/>
                      </a:solidFill>
                      <a:prstDash val="solid"/>
                    </a:lnL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101726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R w="6350">
                      <a:solidFill>
                        <a:srgbClr val="0D9387"/>
                      </a:solidFill>
                      <a:prstDash val="solid"/>
                    </a:lnR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921322230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91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CAD4E0"/>
                      </a:solidFill>
                      <a:prstDash val="solid"/>
                    </a:lnL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172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0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Student Name 1</a:t>
                      </a:r>
                      <a:r>
                        <a:rPr sz="10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lang="en-US" sz="10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921322230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CAD4E0"/>
                      </a:solidFill>
                      <a:prstDash val="solid"/>
                    </a:lnL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marL="10172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tudent Name 2</a:t>
                      </a:r>
                      <a:r>
                        <a:rPr sz="1000" spc="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lang="en-US" sz="1000" spc="-6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92132223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070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CAD4E0"/>
                      </a:solidFill>
                      <a:prstDash val="solid"/>
                    </a:lnL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172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0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Student Name 3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9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921322230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79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CAD4E0"/>
                      </a:solidFill>
                      <a:prstDash val="solid"/>
                    </a:lnL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marL="10172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US" sz="10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Student Name 4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CAD4E0"/>
                      </a:solidFill>
                      <a:prstDash val="solid"/>
                    </a:lnR>
                    <a:lnT w="6350">
                      <a:solidFill>
                        <a:srgbClr val="CAD4E0"/>
                      </a:solidFill>
                      <a:prstDash val="solid"/>
                    </a:lnT>
                    <a:lnB w="6350">
                      <a:solidFill>
                        <a:srgbClr val="CAD4E0"/>
                      </a:solidFill>
                      <a:prstDash val="solid"/>
                    </a:lnB>
                    <a:solidFill>
                      <a:srgbClr val="E8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866707" y="3638550"/>
            <a:ext cx="3404235" cy="76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374140" algn="l"/>
              </a:tabLst>
            </a:pPr>
            <a:r>
              <a:rPr sz="1100" b="1" dirty="0">
                <a:solidFill>
                  <a:srgbClr val="0E2B46"/>
                </a:solidFill>
                <a:latin typeface="Calibri"/>
                <a:cs typeface="Calibri"/>
              </a:rPr>
              <a:t>Batch</a:t>
            </a:r>
            <a:r>
              <a:rPr sz="1100" b="1" spc="-30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100" b="1" dirty="0">
                <a:solidFill>
                  <a:srgbClr val="0E2B46"/>
                </a:solidFill>
                <a:latin typeface="Calibri"/>
                <a:cs typeface="Calibri"/>
              </a:rPr>
              <a:t>Number:</a:t>
            </a:r>
            <a:r>
              <a:rPr sz="1100" b="1" spc="-20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100" b="1" dirty="0">
                <a:solidFill>
                  <a:srgbClr val="0E2B46"/>
                </a:solidFill>
                <a:latin typeface="Calibri"/>
                <a:cs typeface="Calibri"/>
              </a:rPr>
              <a:t>B</a:t>
            </a:r>
            <a:r>
              <a:rPr lang="en-US" sz="1100" b="1" dirty="0">
                <a:solidFill>
                  <a:srgbClr val="0E2B46"/>
                </a:solidFill>
                <a:latin typeface="Calibri"/>
                <a:cs typeface="Calibri"/>
              </a:rPr>
              <a:t>1</a:t>
            </a:r>
            <a:r>
              <a:rPr sz="1100" b="1" spc="235" dirty="0">
                <a:solidFill>
                  <a:srgbClr val="0E2B46"/>
                </a:solidFill>
                <a:latin typeface="Calibri"/>
                <a:cs typeface="Calibri"/>
              </a:rPr>
              <a:t xml:space="preserve">  </a:t>
            </a:r>
            <a:r>
              <a:rPr sz="1100" b="1" spc="-50" dirty="0">
                <a:solidFill>
                  <a:srgbClr val="0E2B46"/>
                </a:solidFill>
                <a:latin typeface="Calibri"/>
                <a:cs typeface="Calibri"/>
              </a:rPr>
              <a:t>|</a:t>
            </a:r>
            <a:r>
              <a:rPr sz="1100" b="1" dirty="0">
                <a:solidFill>
                  <a:srgbClr val="0E2B46"/>
                </a:solidFill>
                <a:latin typeface="Calibri"/>
                <a:cs typeface="Calibri"/>
              </a:rPr>
              <a:t xml:space="preserve">	Academic</a:t>
            </a:r>
            <a:r>
              <a:rPr sz="1100" b="1" spc="-3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100" b="1" dirty="0">
                <a:solidFill>
                  <a:srgbClr val="0E2B46"/>
                </a:solidFill>
                <a:latin typeface="Calibri"/>
                <a:cs typeface="Calibri"/>
              </a:rPr>
              <a:t>Year:</a:t>
            </a:r>
            <a:r>
              <a:rPr sz="1100" b="1" spc="-3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100" b="1" spc="-10" dirty="0">
                <a:solidFill>
                  <a:srgbClr val="0E2B46"/>
                </a:solidFill>
                <a:latin typeface="Calibri"/>
                <a:cs typeface="Calibri"/>
              </a:rPr>
              <a:t>2025–2026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Guided</a:t>
            </a:r>
            <a:r>
              <a:rPr sz="1100" spc="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by: Mr.</a:t>
            </a:r>
            <a:r>
              <a:rPr sz="1100" spc="-1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P.</a:t>
            </a:r>
            <a:r>
              <a:rPr sz="1100" spc="-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Seethamani,</a:t>
            </a:r>
            <a:r>
              <a:rPr sz="1100" spc="-3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M.E.,</a:t>
            </a:r>
            <a:r>
              <a:rPr sz="1100" spc="-1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Assistant</a:t>
            </a:r>
            <a:r>
              <a:rPr sz="1100" spc="-4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465469"/>
                </a:solidFill>
                <a:latin typeface="Calibri"/>
                <a:cs typeface="Calibri"/>
              </a:rPr>
              <a:t>Professor</a:t>
            </a:r>
            <a:r>
              <a:rPr sz="1100" spc="-3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/</a:t>
            </a:r>
            <a:r>
              <a:rPr sz="1100" spc="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spc="-35" dirty="0">
                <a:solidFill>
                  <a:srgbClr val="465469"/>
                </a:solidFill>
                <a:latin typeface="Calibri"/>
                <a:cs typeface="Calibri"/>
              </a:rPr>
              <a:t>IT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100" dirty="0">
                <a:solidFill>
                  <a:srgbClr val="465469"/>
                </a:solidFill>
                <a:latin typeface="Calibri"/>
                <a:cs typeface="Calibri"/>
              </a:rPr>
              <a:t>Date:</a:t>
            </a:r>
            <a:r>
              <a:rPr sz="1100" spc="1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465469"/>
                </a:solidFill>
                <a:latin typeface="Calibri"/>
                <a:cs typeface="Calibri"/>
              </a:rPr>
              <a:t>25-05-</a:t>
            </a:r>
            <a:r>
              <a:rPr sz="1100" spc="-20" dirty="0">
                <a:solidFill>
                  <a:srgbClr val="465469"/>
                </a:solidFill>
                <a:latin typeface="Calibri"/>
                <a:cs typeface="Calibri"/>
              </a:rPr>
              <a:t>2026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419" y="143002"/>
            <a:ext cx="1403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3400" y="1047750"/>
            <a:ext cx="8112759" cy="843280"/>
            <a:chOff x="495282" y="1263226"/>
            <a:chExt cx="8112759" cy="843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1263226"/>
              <a:ext cx="8112286" cy="8430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39" y="1280160"/>
              <a:ext cx="8046720" cy="777240"/>
            </a:xfrm>
            <a:custGeom>
              <a:avLst/>
              <a:gdLst/>
              <a:ahLst/>
              <a:cxnLst/>
              <a:rect l="l" t="t" r="r" b="b"/>
              <a:pathLst>
                <a:path w="8046720" h="777239">
                  <a:moveTo>
                    <a:pt x="8046720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8046720" y="777239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1078" y="1323890"/>
            <a:ext cx="7067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Problem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2932" y="1249214"/>
            <a:ext cx="57600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spcBef>
                <a:spcPts val="100"/>
              </a:spcBef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Manual, paper-based FIR filing in police stations causes delays, data loss, and lack of real-time tracking for citizens and investigators.</a:t>
            </a:r>
            <a:endParaRPr sz="12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00" y="1962150"/>
            <a:ext cx="8112759" cy="843280"/>
            <a:chOff x="495282" y="2177626"/>
            <a:chExt cx="8112759" cy="8432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2177626"/>
              <a:ext cx="8112286" cy="8430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8639" y="2194559"/>
              <a:ext cx="8046720" cy="777240"/>
            </a:xfrm>
            <a:custGeom>
              <a:avLst/>
              <a:gdLst/>
              <a:ahLst/>
              <a:cxnLst/>
              <a:rect l="l" t="t" r="r" b="b"/>
              <a:pathLst>
                <a:path w="8046720" h="777239">
                  <a:moveTo>
                    <a:pt x="8046720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8046720" y="777239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1078" y="2237986"/>
            <a:ext cx="6927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Solution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32932" y="2163310"/>
            <a:ext cx="58445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A full-stack AI-powered web portal that digitizes the entire FIR lifecycle — from filing to court closure — with intelligent automation.</a:t>
            </a:r>
            <a:endParaRPr sz="12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3400" y="3790963"/>
            <a:ext cx="8112759" cy="843280"/>
            <a:chOff x="495282" y="4006439"/>
            <a:chExt cx="8112759" cy="84328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4006439"/>
              <a:ext cx="8112286" cy="84309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8639" y="4023360"/>
              <a:ext cx="8046720" cy="777240"/>
            </a:xfrm>
            <a:custGeom>
              <a:avLst/>
              <a:gdLst/>
              <a:ahLst/>
              <a:cxnLst/>
              <a:rect l="l" t="t" r="r" b="b"/>
              <a:pathLst>
                <a:path w="8046720" h="777239">
                  <a:moveTo>
                    <a:pt x="8046720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8046720" y="777239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1078" y="4067675"/>
            <a:ext cx="6051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Results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32932" y="3992999"/>
            <a:ext cx="60432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Complete digital FIR workflow with AI crime categorization, 85%+ duplicate detection accuracy, and real-time citizen tracking portal.</a:t>
            </a:r>
            <a:endParaRPr sz="12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grpSp>
        <p:nvGrpSpPr>
          <p:cNvPr id="25" name="object 9">
            <a:extLst>
              <a:ext uri="{FF2B5EF4-FFF2-40B4-BE49-F238E27FC236}">
                <a16:creationId xmlns:a16="http://schemas.microsoft.com/office/drawing/2014/main" id="{F0FD62CE-FBE3-D5D3-AE45-354FD5BF9D84}"/>
              </a:ext>
            </a:extLst>
          </p:cNvPr>
          <p:cNvGrpSpPr/>
          <p:nvPr/>
        </p:nvGrpSpPr>
        <p:grpSpPr>
          <a:xfrm>
            <a:off x="520718" y="2872047"/>
            <a:ext cx="8112759" cy="843280"/>
            <a:chOff x="495282" y="2177626"/>
            <a:chExt cx="8112759" cy="843280"/>
          </a:xfrm>
        </p:grpSpPr>
        <p:pic>
          <p:nvPicPr>
            <p:cNvPr id="26" name="object 10">
              <a:extLst>
                <a:ext uri="{FF2B5EF4-FFF2-40B4-BE49-F238E27FC236}">
                  <a16:creationId xmlns:a16="http://schemas.microsoft.com/office/drawing/2014/main" id="{995E932D-C488-A1BB-903C-9CB47AA66D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2177626"/>
              <a:ext cx="8112286" cy="843098"/>
            </a:xfrm>
            <a:prstGeom prst="rect">
              <a:avLst/>
            </a:prstGeom>
          </p:spPr>
        </p:pic>
        <p:sp>
          <p:nvSpPr>
            <p:cNvPr id="27" name="object 11">
              <a:extLst>
                <a:ext uri="{FF2B5EF4-FFF2-40B4-BE49-F238E27FC236}">
                  <a16:creationId xmlns:a16="http://schemas.microsoft.com/office/drawing/2014/main" id="{5E559A06-9BC8-1560-9C63-532B14C491D6}"/>
                </a:ext>
              </a:extLst>
            </p:cNvPr>
            <p:cNvSpPr/>
            <p:nvPr/>
          </p:nvSpPr>
          <p:spPr>
            <a:xfrm>
              <a:off x="548639" y="2194559"/>
              <a:ext cx="8046720" cy="777240"/>
            </a:xfrm>
            <a:custGeom>
              <a:avLst/>
              <a:gdLst/>
              <a:ahLst/>
              <a:cxnLst/>
              <a:rect l="l" t="t" r="r" b="b"/>
              <a:pathLst>
                <a:path w="8046720" h="777239">
                  <a:moveTo>
                    <a:pt x="8046720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8046720" y="777239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12">
            <a:extLst>
              <a:ext uri="{FF2B5EF4-FFF2-40B4-BE49-F238E27FC236}">
                <a16:creationId xmlns:a16="http://schemas.microsoft.com/office/drawing/2014/main" id="{9B6C9FF4-F2BC-9C72-86A5-5AB1973D8609}"/>
              </a:ext>
            </a:extLst>
          </p:cNvPr>
          <p:cNvSpPr txBox="1"/>
          <p:nvPr/>
        </p:nvSpPr>
        <p:spPr>
          <a:xfrm>
            <a:off x="861078" y="3138581"/>
            <a:ext cx="7772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F</a:t>
            </a:r>
            <a:r>
              <a:rPr lang="en-IN"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eatures</a:t>
            </a:r>
            <a:endParaRPr lang="en-IN" sz="1400" dirty="0">
              <a:latin typeface="Trebuchet MS"/>
              <a:cs typeface="Trebuchet MS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2F140EE1-2189-2972-5685-04E2AB66BC1C}"/>
              </a:ext>
            </a:extLst>
          </p:cNvPr>
          <p:cNvSpPr txBox="1"/>
          <p:nvPr/>
        </p:nvSpPr>
        <p:spPr>
          <a:xfrm>
            <a:off x="2232932" y="3035022"/>
            <a:ext cx="58445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spcBef>
                <a:spcPts val="100"/>
              </a:spcBef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AI crime categorization, urgency scoring, NER, duplicate detection, case summarization, PDF with QR code, and role-based dashboards.</a:t>
            </a:r>
            <a:endParaRPr sz="12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Domain</a:t>
            </a:r>
            <a:r>
              <a:rPr spc="-85" dirty="0"/>
              <a:t xml:space="preserve"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47" y="1263295"/>
            <a:ext cx="2625956" cy="13458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640" y="1280160"/>
            <a:ext cx="2560320" cy="1421928"/>
          </a:xfrm>
          <a:prstGeom prst="rect">
            <a:avLst/>
          </a:prstGeom>
          <a:solidFill>
            <a:srgbClr val="EFF5F9"/>
          </a:solidFill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2800" b="1" spc="-10" dirty="0">
                <a:solidFill>
                  <a:srgbClr val="0D9387"/>
                </a:solidFill>
                <a:latin typeface="Trebuchet MS"/>
                <a:cs typeface="Trebuchet MS"/>
              </a:rPr>
              <a:t>35M+</a:t>
            </a:r>
            <a:endParaRPr lang="en-US" sz="2800" b="1" spc="-10" dirty="0">
              <a:solidFill>
                <a:srgbClr val="0D9387"/>
              </a:solidFill>
              <a:latin typeface="Trebuchet MS"/>
              <a:cs typeface="Trebuchet MS"/>
            </a:endParaRPr>
          </a:p>
          <a:p>
            <a:pPr algn="ctr">
              <a:lnSpc>
                <a:spcPct val="200000"/>
              </a:lnSpc>
              <a:spcBef>
                <a:spcPts val="1045"/>
              </a:spcBef>
            </a:pPr>
            <a:endParaRPr lang="en-IN" sz="2800" b="1" spc="-10" dirty="0">
              <a:solidFill>
                <a:srgbClr val="0D9387"/>
              </a:solidFill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3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40" y="2976206"/>
            <a:ext cx="8242300" cy="158312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600" b="1" dirty="0">
                <a:solidFill>
                  <a:srgbClr val="0E2B46"/>
                </a:solidFill>
                <a:latin typeface="Calibri"/>
                <a:cs typeface="Calibri"/>
              </a:rPr>
              <a:t>AI</a:t>
            </a:r>
            <a:r>
              <a:rPr sz="1600" b="1" spc="-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600" b="1" dirty="0">
                <a:solidFill>
                  <a:srgbClr val="0E2B46"/>
                </a:solidFill>
                <a:latin typeface="Calibri"/>
                <a:cs typeface="Calibri"/>
              </a:rPr>
              <a:t>in</a:t>
            </a:r>
            <a:r>
              <a:rPr sz="1600" b="1" spc="-10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lang="en-US" sz="1600" b="1" spc="-10" dirty="0">
                <a:solidFill>
                  <a:srgbClr val="0E2B46"/>
                </a:solidFill>
                <a:latin typeface="Calibri"/>
                <a:cs typeface="Calibri"/>
              </a:rPr>
              <a:t>Enforcement</a:t>
            </a:r>
            <a:endParaRPr sz="1600" dirty="0">
              <a:latin typeface="Calibri"/>
              <a:cs typeface="Calibri"/>
            </a:endParaRP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lang="en-IN" sz="1300" dirty="0">
                <a:latin typeface="+mn-lt"/>
              </a:rPr>
              <a:t>Deep learning and NLP enable automated crime type detection from FIR incident descriptions</a:t>
            </a: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lang="en-IN" sz="1300" dirty="0">
                <a:latin typeface="+mn-lt"/>
              </a:rPr>
              <a:t>Rule-based and AI models extract accused names, locations, and dates using spaCy NER</a:t>
            </a: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lang="en-IN" sz="1300" dirty="0">
                <a:latin typeface="+mn-lt"/>
              </a:rPr>
              <a:t>Sentence transformers provide accurate duplicate FIR detection using cosine similarity</a:t>
            </a: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lang="en-IN" sz="1300" dirty="0">
                <a:latin typeface="+mn-lt"/>
              </a:rPr>
              <a:t>Google Gemini API enables contextual crime categorization and case summarization</a:t>
            </a:r>
          </a:p>
          <a:p>
            <a:pPr marL="7556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812800" algn="l"/>
              </a:tabLst>
            </a:pPr>
            <a:r>
              <a:rPr lang="en-IN" sz="1300" dirty="0">
                <a:latin typeface="+mn-lt"/>
              </a:rPr>
              <a:t>Citizen portal ensures 24/7 FIR status tracking for public accessibility</a:t>
            </a:r>
            <a:endParaRPr sz="1300" dirty="0">
              <a:latin typeface="+mn-lt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7D219-DCD2-DC10-2ABF-05545AB95D65}"/>
              </a:ext>
            </a:extLst>
          </p:cNvPr>
          <p:cNvSpPr txBox="1"/>
          <p:nvPr/>
        </p:nvSpPr>
        <p:spPr>
          <a:xfrm>
            <a:off x="621471" y="2038360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spc="-25" dirty="0">
                <a:solidFill>
                  <a:srgbClr val="63748A"/>
                </a:solidFill>
                <a:latin typeface="Calibri"/>
                <a:cs typeface="Calibri"/>
              </a:rPr>
              <a:t>FIRs filed annually in India</a:t>
            </a:r>
            <a:endParaRPr lang="en-US" sz="11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6BF7EDB4-6141-05E7-9D87-30B7D50F4A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447" y="1246430"/>
            <a:ext cx="2625956" cy="1345892"/>
          </a:xfrm>
          <a:prstGeom prst="rect">
            <a:avLst/>
          </a:prstGeom>
        </p:spPr>
      </p:pic>
      <p:sp>
        <p:nvSpPr>
          <p:cNvPr id="15" name="object 5">
            <a:extLst>
              <a:ext uri="{FF2B5EF4-FFF2-40B4-BE49-F238E27FC236}">
                <a16:creationId xmlns:a16="http://schemas.microsoft.com/office/drawing/2014/main" id="{E9094640-4893-E803-FCCC-63571B968EA7}"/>
              </a:ext>
            </a:extLst>
          </p:cNvPr>
          <p:cNvSpPr txBox="1"/>
          <p:nvPr/>
        </p:nvSpPr>
        <p:spPr>
          <a:xfrm>
            <a:off x="3291840" y="1263295"/>
            <a:ext cx="2560320" cy="1421928"/>
          </a:xfrm>
          <a:prstGeom prst="rect">
            <a:avLst/>
          </a:prstGeom>
          <a:solidFill>
            <a:srgbClr val="EFF5F9"/>
          </a:solidFill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lang="en-US" sz="2800" b="1" spc="-10" dirty="0">
                <a:solidFill>
                  <a:srgbClr val="0D9387"/>
                </a:solidFill>
                <a:latin typeface="Trebuchet MS"/>
                <a:cs typeface="Trebuchet MS"/>
              </a:rPr>
              <a:t>5</a:t>
            </a:r>
          </a:p>
          <a:p>
            <a:pPr algn="ctr">
              <a:lnSpc>
                <a:spcPct val="200000"/>
              </a:lnSpc>
              <a:spcBef>
                <a:spcPts val="1045"/>
              </a:spcBef>
            </a:pPr>
            <a:endParaRPr lang="en-IN" sz="2800" b="1" spc="-10" dirty="0">
              <a:solidFill>
                <a:srgbClr val="0D9387"/>
              </a:solidFill>
              <a:latin typeface="Trebuchet MS"/>
              <a:cs typeface="Trebuchet M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3BD46-D3FD-A5AF-F710-26F75EE7CF3C}"/>
              </a:ext>
            </a:extLst>
          </p:cNvPr>
          <p:cNvSpPr txBox="1"/>
          <p:nvPr/>
        </p:nvSpPr>
        <p:spPr>
          <a:xfrm>
            <a:off x="3364671" y="2021495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spc="-25" dirty="0">
                <a:solidFill>
                  <a:srgbClr val="63748A"/>
                </a:solidFill>
                <a:latin typeface="Calibri"/>
                <a:cs typeface="Calibri"/>
              </a:rPr>
              <a:t>AI features integrated</a:t>
            </a:r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45149582-5B30-9468-3D89-EBD3A9809B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8313" y="1264827"/>
            <a:ext cx="2625956" cy="1345892"/>
          </a:xfrm>
          <a:prstGeom prst="rect">
            <a:avLst/>
          </a:prstGeom>
        </p:spPr>
      </p:pic>
      <p:sp>
        <p:nvSpPr>
          <p:cNvPr id="18" name="object 5">
            <a:extLst>
              <a:ext uri="{FF2B5EF4-FFF2-40B4-BE49-F238E27FC236}">
                <a16:creationId xmlns:a16="http://schemas.microsoft.com/office/drawing/2014/main" id="{CA50CD54-8240-0A49-835D-A3FC06C651A6}"/>
              </a:ext>
            </a:extLst>
          </p:cNvPr>
          <p:cNvSpPr txBox="1"/>
          <p:nvPr/>
        </p:nvSpPr>
        <p:spPr>
          <a:xfrm>
            <a:off x="6071706" y="1281692"/>
            <a:ext cx="2560320" cy="1421928"/>
          </a:xfrm>
          <a:prstGeom prst="rect">
            <a:avLst/>
          </a:prstGeom>
          <a:solidFill>
            <a:srgbClr val="EFF5F9"/>
          </a:solidFill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lang="en-US" sz="2800" b="1" spc="-10" dirty="0">
                <a:solidFill>
                  <a:srgbClr val="0D9387"/>
                </a:solidFill>
                <a:latin typeface="Trebuchet MS"/>
                <a:cs typeface="Trebuchet MS"/>
              </a:rPr>
              <a:t>&gt;94%</a:t>
            </a:r>
          </a:p>
          <a:p>
            <a:pPr algn="ctr">
              <a:lnSpc>
                <a:spcPct val="200000"/>
              </a:lnSpc>
              <a:spcBef>
                <a:spcPts val="1045"/>
              </a:spcBef>
            </a:pPr>
            <a:endParaRPr lang="en-IN" sz="2800" b="1" spc="-10" dirty="0">
              <a:solidFill>
                <a:srgbClr val="0D9387"/>
              </a:solidFill>
              <a:latin typeface="Trebuchet MS"/>
              <a:cs typeface="Trebuchet M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1E30D2-6D23-A12C-90EB-2860A88A3322}"/>
              </a:ext>
            </a:extLst>
          </p:cNvPr>
          <p:cNvSpPr txBox="1"/>
          <p:nvPr/>
        </p:nvSpPr>
        <p:spPr>
          <a:xfrm>
            <a:off x="6144537" y="2039892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spc="-25" dirty="0">
                <a:solidFill>
                  <a:srgbClr val="63748A"/>
                </a:solidFill>
                <a:latin typeface="Calibri"/>
                <a:cs typeface="Calibri"/>
              </a:rPr>
              <a:t>AI categorization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spc="-210" dirty="0"/>
              <a:t xml:space="preserve"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5264" y="1217657"/>
            <a:ext cx="3906520" cy="3217183"/>
            <a:chOff x="495264" y="1217658"/>
            <a:chExt cx="3906520" cy="31064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64" y="1217658"/>
              <a:ext cx="3906082" cy="31059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234389"/>
              <a:ext cx="3840479" cy="3040380"/>
            </a:xfrm>
            <a:custGeom>
              <a:avLst/>
              <a:gdLst/>
              <a:ahLst/>
              <a:cxnLst/>
              <a:rect l="l" t="t" r="r" b="b"/>
              <a:pathLst>
                <a:path w="3840479" h="3040379">
                  <a:moveTo>
                    <a:pt x="3840479" y="0"/>
                  </a:moveTo>
                  <a:lnTo>
                    <a:pt x="0" y="0"/>
                  </a:lnTo>
                  <a:lnTo>
                    <a:pt x="0" y="3039998"/>
                  </a:lnTo>
                  <a:lnTo>
                    <a:pt x="3840479" y="303999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2960" y="1417446"/>
            <a:ext cx="3444240" cy="2911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D9387"/>
                </a:solidFill>
                <a:latin typeface="Trebuchet MS"/>
                <a:cs typeface="Trebuchet MS"/>
              </a:rPr>
              <a:t>AI</a:t>
            </a:r>
            <a:r>
              <a:rPr sz="1500" b="1" spc="-3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500" b="1" dirty="0">
                <a:solidFill>
                  <a:srgbClr val="0D9387"/>
                </a:solidFill>
                <a:latin typeface="Trebuchet MS"/>
                <a:cs typeface="Trebuchet MS"/>
              </a:rPr>
              <a:t>NLP</a:t>
            </a:r>
            <a:r>
              <a:rPr sz="1500" b="1" spc="-2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500" b="1" dirty="0">
                <a:solidFill>
                  <a:srgbClr val="0D9387"/>
                </a:solidFill>
                <a:latin typeface="Trebuchet MS"/>
                <a:cs typeface="Trebuchet MS"/>
              </a:rPr>
              <a:t>in</a:t>
            </a:r>
            <a:r>
              <a:rPr sz="1500" b="1" spc="-2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lang="en-US" sz="1500" b="1" spc="-25" dirty="0">
                <a:solidFill>
                  <a:srgbClr val="0D9387"/>
                </a:solidFill>
                <a:latin typeface="Trebuchet MS"/>
                <a:cs typeface="Trebuchet MS"/>
              </a:rPr>
              <a:t>Policing</a:t>
            </a:r>
            <a:endParaRPr sz="1500" dirty="0">
              <a:latin typeface="Trebuchet MS"/>
              <a:cs typeface="Trebuchet MS"/>
            </a:endParaRPr>
          </a:p>
          <a:p>
            <a:pPr marL="342900" marR="5080" indent="-343535" algn="just">
              <a:lnSpc>
                <a:spcPct val="100000"/>
              </a:lnSpc>
              <a:spcBef>
                <a:spcPts val="1630"/>
              </a:spcBef>
              <a:buChar char="•"/>
              <a:tabLst>
                <a:tab pos="342900" algn="l"/>
              </a:tabLst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 xml:space="preserve">CNN models such as </a:t>
            </a:r>
            <a:r>
              <a:rPr lang="en-IN" sz="1200" dirty="0" err="1">
                <a:solidFill>
                  <a:srgbClr val="1E293A"/>
                </a:solidFill>
                <a:latin typeface="Calibri"/>
                <a:cs typeface="Calibri"/>
              </a:rPr>
              <a:t>AlexNet</a:t>
            </a: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 xml:space="preserve">, </a:t>
            </a:r>
            <a:r>
              <a:rPr lang="en-IN" sz="1200" dirty="0" err="1">
                <a:solidFill>
                  <a:srgbClr val="1E293A"/>
                </a:solidFill>
                <a:latin typeface="Calibri"/>
                <a:cs typeface="Calibri"/>
              </a:rPr>
              <a:t>ResNet</a:t>
            </a: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 xml:space="preserve">, </a:t>
            </a:r>
            <a:r>
              <a:rPr lang="en-IN" sz="1200" dirty="0" err="1">
                <a:solidFill>
                  <a:srgbClr val="1E293A"/>
                </a:solidFill>
                <a:latin typeface="Calibri"/>
                <a:cs typeface="Calibri"/>
              </a:rPr>
              <a:t>MobileNet</a:t>
            </a: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, and EfficientNet achieve high accuracy in plant disease classification</a:t>
            </a:r>
          </a:p>
          <a:p>
            <a:pPr marL="342900" marR="5080" indent="-343535" algn="just">
              <a:lnSpc>
                <a:spcPct val="100000"/>
              </a:lnSpc>
              <a:spcBef>
                <a:spcPts val="1630"/>
              </a:spcBef>
              <a:buChar char="•"/>
              <a:tabLst>
                <a:tab pos="342900" algn="l"/>
              </a:tabLst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Transfer learning improves prediction performance using pretrained deep learning models</a:t>
            </a:r>
          </a:p>
          <a:p>
            <a:pPr marL="342900" marR="5080" indent="-343535" algn="just">
              <a:lnSpc>
                <a:spcPct val="100000"/>
              </a:lnSpc>
              <a:spcBef>
                <a:spcPts val="1630"/>
              </a:spcBef>
              <a:buChar char="•"/>
              <a:tabLst>
                <a:tab pos="342900" algn="l"/>
              </a:tabLst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 xml:space="preserve">Image augmentation techniques improve model generalization and reduce overfitting </a:t>
            </a:r>
          </a:p>
          <a:p>
            <a:pPr marL="342900" marR="5080" indent="-343535" algn="just">
              <a:lnSpc>
                <a:spcPct val="100000"/>
              </a:lnSpc>
              <a:spcBef>
                <a:spcPts val="1630"/>
              </a:spcBef>
              <a:buChar char="•"/>
              <a:tabLst>
                <a:tab pos="342900" algn="l"/>
              </a:tabLst>
            </a:pPr>
            <a:r>
              <a:rPr lang="en-IN" sz="1200" dirty="0">
                <a:solidFill>
                  <a:srgbClr val="1E293A"/>
                </a:solidFill>
                <a:latin typeface="Calibri"/>
                <a:cs typeface="Calibri"/>
              </a:rPr>
              <a:t>Web-based case management systems improve police efficiency and reduce administrative overhead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01504" y="1217658"/>
            <a:ext cx="3906520" cy="3216692"/>
            <a:chOff x="4701504" y="1217658"/>
            <a:chExt cx="3906520" cy="31064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504" y="1217658"/>
              <a:ext cx="3906082" cy="310594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4880" y="1234389"/>
              <a:ext cx="3840479" cy="3040380"/>
            </a:xfrm>
            <a:custGeom>
              <a:avLst/>
              <a:gdLst/>
              <a:ahLst/>
              <a:cxnLst/>
              <a:rect l="l" t="t" r="r" b="b"/>
              <a:pathLst>
                <a:path w="3840479" h="3040379">
                  <a:moveTo>
                    <a:pt x="3840479" y="0"/>
                  </a:moveTo>
                  <a:lnTo>
                    <a:pt x="0" y="0"/>
                  </a:lnTo>
                  <a:lnTo>
                    <a:pt x="0" y="3039998"/>
                  </a:lnTo>
                  <a:lnTo>
                    <a:pt x="3840479" y="303999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29834" y="1417446"/>
            <a:ext cx="3291206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500" b="1" spc="-45" dirty="0">
                <a:solidFill>
                  <a:srgbClr val="0D9387"/>
                </a:solidFill>
                <a:latin typeface="Trebuchet MS"/>
                <a:cs typeface="Trebuchet MS"/>
              </a:rPr>
              <a:t>FIR</a:t>
            </a:r>
            <a:r>
              <a:rPr sz="1500" b="1" spc="-4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500" b="1" dirty="0">
                <a:solidFill>
                  <a:srgbClr val="0D9387"/>
                </a:solidFill>
                <a:latin typeface="Trebuchet MS"/>
                <a:cs typeface="Trebuchet MS"/>
              </a:rPr>
              <a:t>Management</a:t>
            </a:r>
            <a:r>
              <a:rPr sz="1500" b="1" spc="-4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500" b="1" spc="-10" dirty="0">
                <a:solidFill>
                  <a:srgbClr val="0D9387"/>
                </a:solidFill>
                <a:latin typeface="Trebuchet MS"/>
                <a:cs typeface="Trebuchet MS"/>
              </a:rPr>
              <a:t>Systems</a:t>
            </a:r>
            <a:endParaRPr lang="en-IN" sz="1500" b="1" spc="-10" dirty="0">
              <a:solidFill>
                <a:srgbClr val="0D9387"/>
              </a:solidFill>
              <a:latin typeface="Trebuchet MS"/>
              <a:cs typeface="Trebuchet MS"/>
            </a:endParaRPr>
          </a:p>
          <a:p>
            <a:pPr marL="342900" indent="-342900" algn="just">
              <a:lnSpc>
                <a:spcPct val="100000"/>
              </a:lnSpc>
              <a:spcBef>
                <a:spcPts val="1570"/>
              </a:spcBef>
              <a:buChar char="•"/>
              <a:tabLst>
                <a:tab pos="342900" algn="l"/>
              </a:tabLst>
            </a:pPr>
            <a:r>
              <a:rPr lang="en-IN" sz="1200" spc="-10" dirty="0">
                <a:solidFill>
                  <a:srgbClr val="1E293A"/>
                </a:solidFill>
                <a:latin typeface="Calibri"/>
                <a:cs typeface="Calibri"/>
              </a:rPr>
              <a:t>Existing digital systems focus on data entry without AI-assisted classification or urgency scoring</a:t>
            </a:r>
          </a:p>
          <a:p>
            <a:pPr marL="342900" indent="-342900" algn="just">
              <a:lnSpc>
                <a:spcPct val="100000"/>
              </a:lnSpc>
              <a:spcBef>
                <a:spcPts val="1570"/>
              </a:spcBef>
              <a:buChar char="•"/>
              <a:tabLst>
                <a:tab pos="342900" algn="l"/>
              </a:tabLst>
            </a:pPr>
            <a:r>
              <a:rPr lang="en-IN" sz="1200" spc="-10" dirty="0">
                <a:solidFill>
                  <a:srgbClr val="1E293A"/>
                </a:solidFill>
                <a:latin typeface="Calibri"/>
                <a:cs typeface="Calibri"/>
              </a:rPr>
              <a:t>CCTNS (Crime and Criminal Tracking Network) provides basic digitization without AI features</a:t>
            </a:r>
          </a:p>
          <a:p>
            <a:pPr marL="342900" indent="-342900" algn="just">
              <a:lnSpc>
                <a:spcPct val="100000"/>
              </a:lnSpc>
              <a:spcBef>
                <a:spcPts val="1570"/>
              </a:spcBef>
              <a:buChar char="•"/>
              <a:tabLst>
                <a:tab pos="342900" algn="l"/>
              </a:tabLst>
            </a:pPr>
            <a:r>
              <a:rPr lang="en-IN" sz="1200" spc="-10" dirty="0">
                <a:solidFill>
                  <a:srgbClr val="1E293A"/>
                </a:solidFill>
                <a:latin typeface="Calibri"/>
                <a:cs typeface="Calibri"/>
              </a:rPr>
              <a:t>Most systems lack citizen-facing portals for real-time FIR status tracking and QR verification</a:t>
            </a:r>
          </a:p>
          <a:p>
            <a:pPr marL="342900" indent="-342900" algn="just">
              <a:lnSpc>
                <a:spcPct val="100000"/>
              </a:lnSpc>
              <a:spcBef>
                <a:spcPts val="1570"/>
              </a:spcBef>
              <a:buChar char="•"/>
              <a:tabLst>
                <a:tab pos="342900" algn="l"/>
              </a:tabLst>
            </a:pPr>
            <a:r>
              <a:rPr lang="en-IN" sz="1200" spc="-10" dirty="0">
                <a:solidFill>
                  <a:srgbClr val="1E293A"/>
                </a:solidFill>
                <a:latin typeface="Calibri"/>
                <a:cs typeface="Calibri"/>
              </a:rPr>
              <a:t>Modern systems require intelligent duplicate detection to prevent redundant complaint filings</a:t>
            </a:r>
            <a:endParaRPr lang="en-IN"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4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Gap</a:t>
            </a:r>
            <a:r>
              <a:rPr spc="-45" dirty="0"/>
              <a:t xml:space="preserve"> </a:t>
            </a:r>
            <a:r>
              <a:rPr dirty="0"/>
              <a:t>in</a:t>
            </a:r>
            <a:r>
              <a:rPr spc="-40" dirty="0"/>
              <a:t xml:space="preserve"> </a:t>
            </a:r>
            <a:r>
              <a:rPr dirty="0"/>
              <a:t>Existing</a:t>
            </a:r>
            <a:r>
              <a:rPr spc="-40" dirty="0"/>
              <a:t xml:space="preserve"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67" y="1217488"/>
            <a:ext cx="4271836" cy="7516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640" y="1234439"/>
            <a:ext cx="4271836" cy="630942"/>
          </a:xfrm>
          <a:prstGeom prst="rect">
            <a:avLst/>
          </a:prstGeom>
          <a:solidFill>
            <a:srgbClr val="FDF1F1"/>
          </a:solidFill>
        </p:spPr>
        <p:txBody>
          <a:bodyPr vert="horz" wrap="square" lIns="0" tIns="78740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620"/>
              </a:spcBef>
            </a:pPr>
            <a:r>
              <a:rPr sz="1300" b="1" dirty="0">
                <a:solidFill>
                  <a:srgbClr val="DC2525"/>
                </a:solidFill>
                <a:latin typeface="Trebuchet MS"/>
                <a:cs typeface="Trebuchet MS"/>
              </a:rPr>
              <a:t>No</a:t>
            </a:r>
            <a:r>
              <a:rPr sz="1300" b="1" spc="-40" dirty="0">
                <a:solidFill>
                  <a:srgbClr val="DC2525"/>
                </a:solidFill>
                <a:latin typeface="Trebuchet MS"/>
                <a:cs typeface="Trebuchet MS"/>
              </a:rPr>
              <a:t xml:space="preserve"> </a:t>
            </a:r>
            <a:r>
              <a:rPr sz="1300" b="1" dirty="0">
                <a:solidFill>
                  <a:srgbClr val="DC2525"/>
                </a:solidFill>
                <a:latin typeface="Trebuchet MS"/>
                <a:cs typeface="Trebuchet MS"/>
              </a:rPr>
              <a:t>AI</a:t>
            </a:r>
            <a:r>
              <a:rPr sz="1300" b="1" spc="-35" dirty="0">
                <a:solidFill>
                  <a:srgbClr val="DC2525"/>
                </a:solidFill>
                <a:latin typeface="Trebuchet MS"/>
                <a:cs typeface="Trebuchet MS"/>
              </a:rPr>
              <a:t xml:space="preserve"> </a:t>
            </a:r>
            <a:r>
              <a:rPr sz="1300" b="1" spc="-10" dirty="0">
                <a:solidFill>
                  <a:srgbClr val="DC2525"/>
                </a:solidFill>
                <a:latin typeface="Trebuchet MS"/>
                <a:cs typeface="Trebuchet MS"/>
              </a:rPr>
              <a:t>Classification</a:t>
            </a:r>
            <a:endParaRPr sz="1300" dirty="0">
              <a:latin typeface="Trebuchet MS"/>
              <a:cs typeface="Trebuchet MS"/>
            </a:endParaRPr>
          </a:p>
          <a:p>
            <a:pPr marL="273685" marR="925194" algn="just">
              <a:spcBef>
                <a:spcPts val="140"/>
              </a:spcBef>
              <a:spcAft>
                <a:spcPts val="100"/>
              </a:spcAft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Existing systems require manual crime type entry — no automated categorization from description</a:t>
            </a:r>
            <a:endParaRPr sz="11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67" y="2022160"/>
            <a:ext cx="4271836" cy="7516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8640" y="2039111"/>
            <a:ext cx="4206240" cy="631583"/>
          </a:xfrm>
          <a:prstGeom prst="rect">
            <a:avLst/>
          </a:prstGeom>
          <a:solidFill>
            <a:srgbClr val="FDF1F1"/>
          </a:solidFill>
        </p:spPr>
        <p:txBody>
          <a:bodyPr vert="horz" wrap="square" lIns="0" tIns="7937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625"/>
              </a:spcBef>
            </a:pPr>
            <a:r>
              <a:rPr sz="1300" b="1" dirty="0">
                <a:solidFill>
                  <a:srgbClr val="DC2525"/>
                </a:solidFill>
                <a:latin typeface="Trebuchet MS"/>
                <a:cs typeface="Trebuchet MS"/>
              </a:rPr>
              <a:t>No</a:t>
            </a:r>
            <a:r>
              <a:rPr sz="1300" b="1" spc="-15" dirty="0">
                <a:solidFill>
                  <a:srgbClr val="DC2525"/>
                </a:solidFill>
                <a:latin typeface="Trebuchet MS"/>
                <a:cs typeface="Trebuchet MS"/>
              </a:rPr>
              <a:t xml:space="preserve"> </a:t>
            </a:r>
            <a:r>
              <a:rPr lang="en-US" sz="1300" b="1" spc="-10" dirty="0">
                <a:solidFill>
                  <a:srgbClr val="DC2525"/>
                </a:solidFill>
                <a:latin typeface="Trebuchet MS"/>
                <a:cs typeface="Trebuchet MS"/>
              </a:rPr>
              <a:t>Duplicate Detection</a:t>
            </a:r>
          </a:p>
          <a:p>
            <a:pPr marL="273685" marR="925194" lvl="1" algn="just">
              <a:spcBef>
                <a:spcPts val="140"/>
              </a:spcBef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Citizens can file duplicate FIRs for the same incident; no similarity-based deduplication exists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67" y="2826832"/>
            <a:ext cx="4271836" cy="7516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8640" y="2843783"/>
            <a:ext cx="4206240" cy="631583"/>
          </a:xfrm>
          <a:prstGeom prst="rect">
            <a:avLst/>
          </a:prstGeom>
          <a:solidFill>
            <a:srgbClr val="FDF1F1"/>
          </a:solidFill>
        </p:spPr>
        <p:txBody>
          <a:bodyPr vert="horz" wrap="square" lIns="0" tIns="7937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625"/>
              </a:spcBef>
            </a:pPr>
            <a:r>
              <a:rPr sz="1300" b="1" dirty="0">
                <a:solidFill>
                  <a:srgbClr val="DC2525"/>
                </a:solidFill>
                <a:latin typeface="Trebuchet MS"/>
                <a:cs typeface="Trebuchet MS"/>
              </a:rPr>
              <a:t>No</a:t>
            </a:r>
            <a:r>
              <a:rPr sz="1300" b="1" spc="-25" dirty="0">
                <a:solidFill>
                  <a:srgbClr val="DC2525"/>
                </a:solidFill>
                <a:latin typeface="Trebuchet MS"/>
                <a:cs typeface="Trebuchet MS"/>
              </a:rPr>
              <a:t xml:space="preserve"> </a:t>
            </a:r>
            <a:r>
              <a:rPr lang="en-US" sz="1300" b="1" spc="-25" dirty="0">
                <a:solidFill>
                  <a:srgbClr val="DC2525"/>
                </a:solidFill>
                <a:latin typeface="Trebuchet MS"/>
                <a:cs typeface="Trebuchet MS"/>
              </a:rPr>
              <a:t>Citizen Portal</a:t>
            </a:r>
            <a:endParaRPr sz="1300" dirty="0">
              <a:latin typeface="Trebuchet MS"/>
              <a:cs typeface="Trebuchet MS"/>
            </a:endParaRPr>
          </a:p>
          <a:p>
            <a:pPr marL="273685" marR="925194" algn="just">
              <a:spcBef>
                <a:spcPts val="140"/>
              </a:spcBef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No online portal for citizens to track FIR status in real-time without visiting the station</a:t>
            </a:r>
            <a:endParaRPr sz="11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67" y="3631517"/>
            <a:ext cx="4271836" cy="75169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48640" y="3648455"/>
            <a:ext cx="4206240" cy="632224"/>
          </a:xfrm>
          <a:prstGeom prst="rect">
            <a:avLst/>
          </a:prstGeom>
          <a:solidFill>
            <a:srgbClr val="FDF1F1"/>
          </a:solidFill>
        </p:spPr>
        <p:txBody>
          <a:bodyPr vert="horz" wrap="square" lIns="0" tIns="80010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630"/>
              </a:spcBef>
            </a:pPr>
            <a:r>
              <a:rPr lang="en-US" sz="1300" b="1" dirty="0">
                <a:solidFill>
                  <a:srgbClr val="DC2525"/>
                </a:solidFill>
                <a:latin typeface="Trebuchet MS"/>
                <a:cs typeface="Trebuchet MS"/>
              </a:rPr>
              <a:t>No   Audit   Trail</a:t>
            </a:r>
            <a:endParaRPr sz="1300" dirty="0">
              <a:latin typeface="Trebuchet MS"/>
              <a:cs typeface="Trebuchet MS"/>
            </a:endParaRPr>
          </a:p>
          <a:p>
            <a:pPr marL="273685" marR="925194" algn="just">
              <a:lnSpc>
                <a:spcPct val="100000"/>
              </a:lnSpc>
              <a:spcBef>
                <a:spcPts val="140"/>
              </a:spcBef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Existing systems lack tamper-proof audit logs; FIR changes can go completely untracked</a:t>
            </a:r>
            <a:endParaRPr sz="11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5822" y="1217632"/>
            <a:ext cx="3631767" cy="316543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029200" y="1234439"/>
            <a:ext cx="3566160" cy="3057247"/>
          </a:xfrm>
          <a:prstGeom prst="rect">
            <a:avLst/>
          </a:prstGeom>
          <a:solidFill>
            <a:srgbClr val="EFFCF4"/>
          </a:solidFill>
        </p:spPr>
        <p:txBody>
          <a:bodyPr vert="horz" wrap="square" lIns="0" tIns="17272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1360"/>
              </a:spcBef>
            </a:pPr>
            <a:r>
              <a:rPr lang="en-US" sz="1500" b="1" spc="-10" dirty="0">
                <a:solidFill>
                  <a:srgbClr val="0D9387"/>
                </a:solidFill>
                <a:latin typeface="Trebuchet MS"/>
                <a:cs typeface="Trebuchet MS"/>
              </a:rPr>
              <a:t>Proposed System Advantages</a:t>
            </a:r>
            <a:endParaRPr sz="1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500" dirty="0">
              <a:latin typeface="Trebuchet MS"/>
              <a:cs typeface="Trebuchet MS"/>
            </a:endParaRP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Google Gemini + rule-based crime categorization</a:t>
            </a: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Real-time web portal with 5 user roles</a:t>
            </a: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Duplicate detection via sentence-transformers</a:t>
            </a: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Evidence upload and Aadhaar criminal search</a:t>
            </a: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Complete audit log of every action taken</a:t>
            </a:r>
          </a:p>
          <a:p>
            <a:pPr marL="617855" marR="1080135" indent="-342900" algn="l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IN" sz="1400" spc="-20" dirty="0">
                <a:solidFill>
                  <a:srgbClr val="1E293A"/>
                </a:solidFill>
                <a:latin typeface="Calibri"/>
                <a:cs typeface="Calibri"/>
              </a:rPr>
              <a:t>PDF with QR code for citizen verification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5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80" dirty="0"/>
              <a:t xml:space="preserve"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6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5E674E-5A19-ADFD-212C-B6E7EDD58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59" y="892809"/>
            <a:ext cx="7761479" cy="3925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System</a:t>
            </a:r>
            <a:r>
              <a:rPr spc="-175" dirty="0"/>
              <a:t xml:space="preserve"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7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D75EF-7518-ED94-C14F-83B2DCD62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6317"/>
            <a:ext cx="8153400" cy="4022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80" dirty="0"/>
              <a:t xml:space="preserve"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5264" y="1171914"/>
            <a:ext cx="3906520" cy="3312160"/>
            <a:chOff x="495264" y="1171914"/>
            <a:chExt cx="3906520" cy="3312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64" y="1171914"/>
              <a:ext cx="3906082" cy="33117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1188720"/>
              <a:ext cx="3840479" cy="3246120"/>
            </a:xfrm>
            <a:custGeom>
              <a:avLst/>
              <a:gdLst/>
              <a:ahLst/>
              <a:cxnLst/>
              <a:rect l="l" t="t" r="r" b="b"/>
              <a:pathLst>
                <a:path w="3840479" h="3246120">
                  <a:moveTo>
                    <a:pt x="3840479" y="0"/>
                  </a:moveTo>
                  <a:lnTo>
                    <a:pt x="0" y="0"/>
                  </a:lnTo>
                  <a:lnTo>
                    <a:pt x="0" y="3246119"/>
                  </a:lnTo>
                  <a:lnTo>
                    <a:pt x="3840479" y="3246119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2960" y="1340561"/>
            <a:ext cx="3282315" cy="2792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D9387"/>
                </a:solidFill>
                <a:latin typeface="Trebuchet MS"/>
                <a:cs typeface="Trebuchet MS"/>
              </a:rPr>
              <a:t>Frontend</a:t>
            </a:r>
            <a:endParaRPr sz="16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React.js 18 Single Page Application</a:t>
            </a:r>
          </a:p>
          <a:p>
            <a:pPr marL="34290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Tailwind CSS for responsive design</a:t>
            </a:r>
          </a:p>
          <a:p>
            <a:pPr marL="34290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Axios with JWT interceptors for API communication</a:t>
            </a:r>
          </a:p>
          <a:p>
            <a:pPr marL="34290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Responsive UI for desktop and mobile devices</a:t>
            </a:r>
          </a:p>
          <a:p>
            <a:pPr marL="342900" indent="-342900">
              <a:lnSpc>
                <a:spcPct val="100000"/>
              </a:lnSpc>
              <a:spcBef>
                <a:spcPts val="1639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Components: FIR Wizard, Dashboards, PDF Viewer, Timeline View</a:t>
            </a:r>
            <a:endParaRPr lang="en-IN" sz="1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01504" y="1171914"/>
            <a:ext cx="3906520" cy="3312160"/>
            <a:chOff x="4701504" y="1171914"/>
            <a:chExt cx="3906520" cy="33121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504" y="1171914"/>
              <a:ext cx="3906082" cy="33117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4880" y="1188720"/>
              <a:ext cx="3840479" cy="3246120"/>
            </a:xfrm>
            <a:custGeom>
              <a:avLst/>
              <a:gdLst/>
              <a:ahLst/>
              <a:cxnLst/>
              <a:rect l="l" t="t" r="r" b="b"/>
              <a:pathLst>
                <a:path w="3840479" h="3246120">
                  <a:moveTo>
                    <a:pt x="3840479" y="0"/>
                  </a:moveTo>
                  <a:lnTo>
                    <a:pt x="0" y="0"/>
                  </a:lnTo>
                  <a:lnTo>
                    <a:pt x="0" y="3246119"/>
                  </a:lnTo>
                  <a:lnTo>
                    <a:pt x="3840479" y="3246119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29834" y="1340561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D9387"/>
                </a:solidFill>
                <a:latin typeface="Trebuchet MS"/>
                <a:cs typeface="Trebuchet MS"/>
              </a:rPr>
              <a:t>Backend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8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29834" y="1705203"/>
            <a:ext cx="2959100" cy="251671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42900" indent="-342900">
              <a:spcBef>
                <a:spcPts val="905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Node.js + Express.js REST API (35+ endpoints)</a:t>
            </a:r>
          </a:p>
          <a:p>
            <a:pPr marL="342900" indent="-342900">
              <a:spcBef>
                <a:spcPts val="905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Prisma ORM with PostgreSQL 16 database (12 models)</a:t>
            </a:r>
          </a:p>
          <a:p>
            <a:pPr marL="342900" indent="-342900">
              <a:spcBef>
                <a:spcPts val="905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JWT auth: access token (15 min) + refresh token (7 days)</a:t>
            </a:r>
          </a:p>
          <a:p>
            <a:pPr marL="342900" indent="-342900">
              <a:spcBef>
                <a:spcPts val="905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Nodemailer for court hearing email reminders</a:t>
            </a:r>
          </a:p>
          <a:p>
            <a:pPr marL="342900" indent="-342900">
              <a:spcBef>
                <a:spcPts val="905"/>
              </a:spcBef>
              <a:buChar char="•"/>
              <a:tabLst>
                <a:tab pos="342900" algn="l"/>
              </a:tabLst>
            </a:pPr>
            <a:r>
              <a:rPr lang="en-IN" sz="1400" dirty="0">
                <a:solidFill>
                  <a:srgbClr val="1E293A"/>
                </a:solidFill>
                <a:latin typeface="Calibri"/>
                <a:cs typeface="Calibri"/>
              </a:rPr>
              <a:t>bcryptjs (12 salt rounds) + Helmet.js + rate limiting</a:t>
            </a:r>
            <a:endParaRPr sz="14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60" dirty="0"/>
              <a:t xml:space="preserve"> </a:t>
            </a:r>
            <a:r>
              <a:rPr dirty="0"/>
              <a:t>1:</a:t>
            </a:r>
            <a:r>
              <a:rPr spc="-55" dirty="0"/>
              <a:t xml:space="preserve"> </a:t>
            </a:r>
            <a:r>
              <a:rPr dirty="0"/>
              <a:t>Image</a:t>
            </a:r>
            <a:r>
              <a:rPr spc="-50" dirty="0"/>
              <a:t xml:space="preserve"> </a:t>
            </a:r>
            <a:r>
              <a:rPr dirty="0"/>
              <a:t>Upload</a:t>
            </a:r>
            <a:r>
              <a:rPr spc="-55" dirty="0"/>
              <a:t xml:space="preserve"> </a:t>
            </a:r>
            <a:r>
              <a:rPr dirty="0"/>
              <a:t>&amp;</a:t>
            </a:r>
            <a:r>
              <a:rPr spc="-50" dirty="0"/>
              <a:t xml:space="preserve"> </a:t>
            </a:r>
            <a:r>
              <a:rPr spc="-10" dirty="0"/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8819" y="1356969"/>
            <a:ext cx="4474210" cy="2732158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lang="en-US" sz="1400" dirty="0">
                <a:solidFill>
                  <a:srgbClr val="1E293A"/>
                </a:solidFill>
                <a:latin typeface="Calibri"/>
                <a:cs typeface="Calibri"/>
              </a:rPr>
              <a:t>Citizens and clerks file FIRs through a structured 4-step wizard interface</a:t>
            </a: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lang="en-US" sz="1400" dirty="0">
                <a:solidFill>
                  <a:srgbClr val="1E293A"/>
                </a:solidFill>
                <a:latin typeface="Calibri"/>
                <a:cs typeface="Calibri"/>
              </a:rPr>
              <a:t>Step 1: Complainant details — name, Aadhaar number, contact, address</a:t>
            </a: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lang="en-US" sz="1400" dirty="0">
                <a:solidFill>
                  <a:srgbClr val="1E293A"/>
                </a:solidFill>
                <a:latin typeface="Calibri"/>
                <a:cs typeface="Calibri"/>
              </a:rPr>
              <a:t>Step 2: Accused details — multiple accused support with description fields</a:t>
            </a: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lang="en-US" sz="1400" dirty="0">
                <a:solidFill>
                  <a:srgbClr val="1E293A"/>
                </a:solidFill>
                <a:latin typeface="Calibri"/>
                <a:cs typeface="Calibri"/>
              </a:rPr>
              <a:t>Step 3: Incident details — date, location, description, evidence upload (max 10 files)</a:t>
            </a:r>
          </a:p>
          <a:p>
            <a:pPr marL="355600" indent="-342900">
              <a:lnSpc>
                <a:spcPct val="100000"/>
              </a:lnSpc>
              <a:spcBef>
                <a:spcPts val="905"/>
              </a:spcBef>
              <a:buChar char="•"/>
              <a:tabLst>
                <a:tab pos="355600" algn="l"/>
              </a:tabLst>
            </a:pPr>
            <a:r>
              <a:rPr lang="en-US" sz="1400" dirty="0">
                <a:solidFill>
                  <a:srgbClr val="1E293A"/>
                </a:solidFill>
                <a:latin typeface="Calibri"/>
                <a:cs typeface="Calibri"/>
              </a:rPr>
              <a:t>Step 4: Review &amp; Submit — AI crime type and urgency score auto-filled</a:t>
            </a:r>
            <a:endParaRPr lang="en-IN"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9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F61BD-230F-389E-C59B-97A72D42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778" y="1323189"/>
            <a:ext cx="3658132" cy="2497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85" dirty="0"/>
              <a:t xml:space="preserve"> </a:t>
            </a:r>
            <a:r>
              <a:rPr dirty="0"/>
              <a:t>2:</a:t>
            </a:r>
            <a:r>
              <a:rPr spc="-80" dirty="0"/>
              <a:t xml:space="preserve"> </a:t>
            </a:r>
            <a:r>
              <a:rPr dirty="0"/>
              <a:t>EfficientNet</a:t>
            </a:r>
            <a:r>
              <a:rPr spc="-55" dirty="0"/>
              <a:t xml:space="preserve"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643842"/>
              </p:ext>
            </p:extLst>
          </p:nvPr>
        </p:nvGraphicFramePr>
        <p:xfrm>
          <a:off x="545465" y="1185544"/>
          <a:ext cx="8046720" cy="2237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 Feature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11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Shape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1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(RGB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Image)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224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224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224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224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EfficientNet</a:t>
                      </a:r>
                      <a:r>
                        <a:rPr sz="1100" spc="4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Backbone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Pretrained</a:t>
                      </a:r>
                      <a:r>
                        <a:rPr sz="110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ImageNet</a:t>
                      </a:r>
                      <a:r>
                        <a:rPr sz="11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(frozen</a:t>
                      </a:r>
                      <a:r>
                        <a:rPr sz="110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r>
                        <a:rPr sz="11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7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7 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1280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Global</a:t>
                      </a:r>
                      <a:r>
                        <a:rPr sz="11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1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Pooling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aggregation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536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sz="110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(ReLU)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256</a:t>
                      </a:r>
                      <a:r>
                        <a:rPr lang="en-US"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fully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connected</a:t>
                      </a:r>
                      <a:r>
                        <a:rPr lang="en-US"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units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 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Case Summarization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0.4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256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sz="11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(Softmax)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lang="en-US"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disease </a:t>
                      </a:r>
                      <a:r>
                        <a:rPr sz="11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1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lang="en-US" sz="1100" spc="-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10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3827475"/>
            <a:ext cx="6423660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3748A"/>
                </a:solidFill>
                <a:latin typeface="Calibri"/>
                <a:cs typeface="Calibri"/>
              </a:rPr>
              <a:t>Training:</a:t>
            </a:r>
            <a:r>
              <a:rPr sz="1100" b="1" spc="-2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Two-phase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(</a:t>
            </a:r>
            <a:r>
              <a:rPr lang="en-US" sz="1100" dirty="0">
                <a:solidFill>
                  <a:srgbClr val="63748A"/>
                </a:solidFill>
                <a:latin typeface="Calibri"/>
                <a:cs typeface="Calibri"/>
              </a:rPr>
              <a:t>transfer learning</a:t>
            </a:r>
            <a:r>
              <a:rPr sz="1100" spc="-4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 xml:space="preserve">+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fine-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tuning)</a:t>
            </a:r>
            <a:r>
              <a:rPr sz="1100" spc="22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100" spc="24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Optimizer: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Adam</a:t>
            </a:r>
            <a:r>
              <a:rPr sz="1100" spc="22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100" spc="254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LR: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1e-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4</a:t>
            </a:r>
            <a:r>
              <a:rPr sz="1100" spc="24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100" spc="254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Epochs: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lang="en-US" sz="1100" spc="-40" dirty="0">
                <a:solidFill>
                  <a:srgbClr val="63748A"/>
                </a:solidFill>
                <a:latin typeface="Calibri"/>
                <a:cs typeface="Calibri"/>
              </a:rPr>
              <a:t>20</a:t>
            </a:r>
            <a:r>
              <a:rPr sz="1100" spc="25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100" spc="24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Batch: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 xml:space="preserve"> 32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63748A"/>
                </a:solidFill>
                <a:latin typeface="Calibri"/>
                <a:cs typeface="Calibri"/>
              </a:rPr>
              <a:t>Loss:</a:t>
            </a:r>
            <a:r>
              <a:rPr sz="1100" b="1" spc="-3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Categorical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Cross-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Entropy</a:t>
            </a:r>
            <a:r>
              <a:rPr sz="1100" spc="20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100" spc="24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Early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stopping</a:t>
            </a:r>
            <a:r>
              <a:rPr sz="1100" spc="-5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LR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scheduling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applied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prevent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overfitting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65" dirty="0"/>
              <a:t xml:space="preserve"> </a:t>
            </a:r>
            <a:r>
              <a:rPr dirty="0"/>
              <a:t>3:</a:t>
            </a:r>
            <a:r>
              <a:rPr spc="-60" dirty="0"/>
              <a:t xml:space="preserve"> </a:t>
            </a:r>
            <a:r>
              <a:rPr dirty="0"/>
              <a:t>Dataset</a:t>
            </a:r>
            <a:r>
              <a:rPr spc="-50" dirty="0"/>
              <a:t xml:space="preserve"> </a:t>
            </a:r>
            <a:r>
              <a:rPr dirty="0"/>
              <a:t>&amp;</a:t>
            </a:r>
            <a:r>
              <a:rPr spc="-60" dirty="0"/>
              <a:t xml:space="preserve"> </a:t>
            </a:r>
            <a:r>
              <a:rPr spc="-10" dirty="0"/>
              <a:t>Preprocessing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29200" y="1188732"/>
            <a:ext cx="3566160" cy="2313454"/>
          </a:xfrm>
          <a:prstGeom prst="rect">
            <a:avLst/>
          </a:prstGeom>
          <a:solidFill>
            <a:srgbClr val="EFF5F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15748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1240"/>
              </a:spcBef>
            </a:pPr>
            <a:r>
              <a:rPr sz="1400" b="1" dirty="0">
                <a:solidFill>
                  <a:srgbClr val="0D9387"/>
                </a:solidFill>
                <a:latin typeface="Trebuchet MS"/>
                <a:cs typeface="Trebuchet MS"/>
              </a:rPr>
              <a:t>Data</a:t>
            </a:r>
            <a:r>
              <a:rPr sz="1400" b="1" spc="-10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Augmentation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User, FIR, Complainant, Accused</a:t>
            </a: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Rotation (-25° to +25°)</a:t>
            </a: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Chargesheet, AuditLog, Watchlist</a:t>
            </a: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MockAadhaarCitizen, Session</a:t>
            </a: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All models via Prisma ORM</a:t>
            </a:r>
          </a:p>
          <a:p>
            <a:pPr marL="617855" indent="-342900">
              <a:lnSpc>
                <a:spcPct val="100000"/>
              </a:lnSpc>
              <a:buChar char="•"/>
              <a:tabLst>
                <a:tab pos="617855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PostgreSQL 16 (Port 5432)</a:t>
            </a:r>
          </a:p>
          <a:p>
            <a:pPr marL="274955">
              <a:lnSpc>
                <a:spcPct val="100000"/>
              </a:lnSpc>
              <a:tabLst>
                <a:tab pos="617855" algn="l"/>
              </a:tabLst>
            </a:pPr>
            <a:endParaRPr lang="en-US" sz="1400" spc="-1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11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55216" y="4071315"/>
            <a:ext cx="286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Split:</a:t>
            </a:r>
            <a:r>
              <a:rPr sz="1200" i="1" spc="-3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70%</a:t>
            </a:r>
            <a:r>
              <a:rPr sz="1200" i="1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Train</a:t>
            </a:r>
            <a:r>
              <a:rPr sz="1200" i="1" spc="23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200" i="1" spc="23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15%</a:t>
            </a:r>
            <a:r>
              <a:rPr sz="1200" i="1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Validation</a:t>
            </a:r>
            <a:r>
              <a:rPr sz="1200" i="1" spc="21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|</a:t>
            </a:r>
            <a:r>
              <a:rPr sz="1200" i="1" spc="240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63748A"/>
                </a:solidFill>
                <a:latin typeface="Calibri"/>
                <a:cs typeface="Calibri"/>
              </a:rPr>
              <a:t>15%</a:t>
            </a:r>
            <a:r>
              <a:rPr sz="1200" i="1" spc="-15" dirty="0">
                <a:solidFill>
                  <a:srgbClr val="63748A"/>
                </a:solidFill>
                <a:latin typeface="Calibri"/>
                <a:cs typeface="Calibri"/>
              </a:rPr>
              <a:t xml:space="preserve"> </a:t>
            </a:r>
            <a:r>
              <a:rPr sz="1200" i="1" spc="-20" dirty="0">
                <a:solidFill>
                  <a:srgbClr val="63748A"/>
                </a:solidFill>
                <a:latin typeface="Calibri"/>
                <a:cs typeface="Calibri"/>
              </a:rPr>
              <a:t>Test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AutoShape 2" descr="Generated image: Tomato leaf disease dataset distribution">
            <a:extLst>
              <a:ext uri="{FF2B5EF4-FFF2-40B4-BE49-F238E27FC236}">
                <a16:creationId xmlns:a16="http://schemas.microsoft.com/office/drawing/2014/main" id="{45BFEF2C-D1E6-56F9-9035-0671A09F9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9A6575B-31D7-DB1C-9FDC-FFD1FEE4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188732"/>
            <a:ext cx="3857625" cy="2602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90" dirty="0"/>
              <a:t xml:space="preserve"> </a:t>
            </a:r>
            <a:r>
              <a:rPr dirty="0"/>
              <a:t>4:</a:t>
            </a:r>
            <a:r>
              <a:rPr spc="-90" dirty="0"/>
              <a:t xml:space="preserve"> </a:t>
            </a:r>
            <a:r>
              <a:rPr lang="en-US" spc="-90" dirty="0"/>
              <a:t>Attention Map Visualization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3230" y="1113519"/>
            <a:ext cx="4319270" cy="373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6995">
              <a:lnSpc>
                <a:spcPct val="100000"/>
              </a:lnSpc>
              <a:spcBef>
                <a:spcPts val="95"/>
              </a:spcBef>
            </a:pPr>
            <a:r>
              <a:rPr lang="en-US" sz="1300" i="1" dirty="0">
                <a:solidFill>
                  <a:srgbClr val="465469"/>
                </a:solidFill>
                <a:latin typeface="Calibri"/>
                <a:cs typeface="Calibri"/>
              </a:rPr>
              <a:t>Enables Aadhaar-based criminal history lookup for repeat offender detection</a:t>
            </a:r>
            <a:endParaRPr sz="1300" dirty="0">
              <a:latin typeface="Calibri"/>
              <a:cs typeface="Calibri"/>
            </a:endParaRP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Writer/Clerk can search mock Aadhaar database by 12-digit Aadhaar number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System automatically flags citizens with previous FIR or criminal history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HIGH-RISK badge displayed when prior FIR count is 3 or more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Watchlist management allows Inspectors to add or remove persons of interest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Inspector and Super Admin roles manage the police watchlist system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Improves transparency and accuracy of accused identification process</a:t>
            </a:r>
          </a:p>
          <a:p>
            <a:pPr marL="354965" indent="-342265">
              <a:spcBef>
                <a:spcPts val="790"/>
              </a:spcBef>
              <a:buChar char="•"/>
              <a:tabLst>
                <a:tab pos="354965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Future scope: Real UIDAI API integration for live Aadhaar verification</a:t>
            </a:r>
            <a:endParaRPr sz="13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12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9A784506-C6CA-797C-8BF8-BF8981741B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2DDDC-AF14-2756-0FCA-928FD9387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598" y="1362392"/>
            <a:ext cx="3718560" cy="2418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70" dirty="0"/>
              <a:t xml:space="preserve"> </a:t>
            </a:r>
            <a:r>
              <a:rPr dirty="0"/>
              <a:t>5:</a:t>
            </a:r>
            <a:r>
              <a:rPr spc="-70" dirty="0"/>
              <a:t xml:space="preserve"> </a:t>
            </a:r>
            <a:r>
              <a:rPr lang="en-IN" spc="-70" dirty="0"/>
              <a:t>Prevention and Treatment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62253"/>
            <a:ext cx="4372610" cy="34259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i="1" dirty="0">
                <a:solidFill>
                  <a:srgbClr val="465469"/>
                </a:solidFill>
                <a:latin typeface="Calibri"/>
                <a:cs typeface="Calibri"/>
              </a:rPr>
              <a:t>System generates two PDF versions of each FIR using the PDFKit library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300" dirty="0">
              <a:latin typeface="Calibri"/>
              <a:cs typeface="Calibri"/>
            </a:endParaRP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Official Copy: Full FIR details for police use — all complainant, accused, and case data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Citizen Copy: Watermarked PDF with embedded QR code linking to FIR status page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QR code generated using Node.js qrcode library and embedded in PDF footer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Scanning QR redirects to public tracking URL for real-time FIR status verification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PDF download available to Inspector, Writer, and Citizen roles (respective copies)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Any FIR change after PDF generation is logged in the full audit trail</a:t>
            </a:r>
          </a:p>
          <a:p>
            <a:pPr marL="355600" marR="69215" indent="-342900">
              <a:buChar char="•"/>
              <a:tabLst>
                <a:tab pos="355600" algn="l"/>
              </a:tabLst>
            </a:pPr>
            <a:r>
              <a:rPr lang="en-US" sz="1300" dirty="0">
                <a:solidFill>
                  <a:srgbClr val="1E293A"/>
                </a:solidFill>
                <a:latin typeface="Calibri"/>
                <a:cs typeface="Calibri"/>
              </a:rPr>
              <a:t>Email delivery of citizen copy triggered on FIR status change via Nodemailer (SMTP)</a:t>
            </a:r>
            <a:endParaRPr sz="130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13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2970E7E-1E59-C1B4-FC49-543EF8D12B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EBC377-B171-4661-0E89-95976F7F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211" y="1262253"/>
            <a:ext cx="3770947" cy="2885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Testing</a:t>
            </a:r>
            <a:r>
              <a:rPr spc="-145" dirty="0"/>
              <a:t xml:space="preserve"> </a:t>
            </a:r>
            <a:r>
              <a:rPr spc="-10" dirty="0"/>
              <a:t>Coverage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5282" y="1217497"/>
            <a:ext cx="8112759" cy="797560"/>
            <a:chOff x="495282" y="1217497"/>
            <a:chExt cx="8112759" cy="797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1217497"/>
              <a:ext cx="8112286" cy="7973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39" y="1234440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19">
                  <a:moveTo>
                    <a:pt x="804672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8046720" y="731520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2960" y="1470787"/>
            <a:ext cx="997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D9387"/>
                </a:solidFill>
                <a:latin typeface="Trebuchet MS"/>
                <a:cs typeface="Trebuchet MS"/>
              </a:rPr>
              <a:t>Unit</a:t>
            </a:r>
            <a:r>
              <a:rPr sz="1400" b="1" spc="-5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Testing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6333" y="1395425"/>
            <a:ext cx="525653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Individual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components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tested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in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isolation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(model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prediction,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API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endpoints,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frontend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components)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82" y="2058745"/>
            <a:ext cx="8112286" cy="79739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8640" y="2075688"/>
            <a:ext cx="8046720" cy="731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tabLst>
                <a:tab pos="2377440" algn="l"/>
              </a:tabLst>
            </a:pP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Integration</a:t>
            </a:r>
            <a:r>
              <a:rPr sz="1400" b="1" spc="-20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Testing</a:t>
            </a:r>
            <a:r>
              <a:rPr sz="1400" b="1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	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End-</a:t>
            </a:r>
            <a:r>
              <a:rPr sz="1800" spc="-15" baseline="2314" dirty="0">
                <a:solidFill>
                  <a:srgbClr val="1E293A"/>
                </a:solidFill>
                <a:latin typeface="Calibri"/>
                <a:cs typeface="Calibri"/>
              </a:rPr>
              <a:t>to-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end</a:t>
            </a:r>
            <a:r>
              <a:rPr sz="1800" spc="-97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workflow</a:t>
            </a:r>
            <a:r>
              <a:rPr sz="1800" spc="-30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from</a:t>
            </a:r>
            <a:r>
              <a:rPr sz="1800" spc="-52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image</a:t>
            </a:r>
            <a:r>
              <a:rPr sz="1800" spc="-37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upload</a:t>
            </a:r>
            <a:r>
              <a:rPr sz="1800" spc="-82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800" spc="-37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prediction</a:t>
            </a:r>
            <a:r>
              <a:rPr sz="1800" spc="-89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result</a:t>
            </a:r>
            <a:r>
              <a:rPr sz="1800" spc="-60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800" spc="-67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chatbot</a:t>
            </a:r>
            <a:r>
              <a:rPr sz="1800" spc="-60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spc="-15" baseline="2314" dirty="0">
                <a:solidFill>
                  <a:srgbClr val="1E293A"/>
                </a:solidFill>
                <a:latin typeface="Calibri"/>
                <a:cs typeface="Calibri"/>
              </a:rPr>
              <a:t>interaction</a:t>
            </a:r>
            <a:endParaRPr sz="1800" baseline="2314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5282" y="2899993"/>
            <a:ext cx="8112759" cy="797560"/>
            <a:chOff x="495282" y="2899993"/>
            <a:chExt cx="8112759" cy="7975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2899993"/>
              <a:ext cx="8112286" cy="7973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8639" y="2916935"/>
              <a:ext cx="8046720" cy="731520"/>
            </a:xfrm>
            <a:custGeom>
              <a:avLst/>
              <a:gdLst/>
              <a:ahLst/>
              <a:cxnLst/>
              <a:rect l="l" t="t" r="r" b="b"/>
              <a:pathLst>
                <a:path w="8046720" h="731520">
                  <a:moveTo>
                    <a:pt x="8046720" y="0"/>
                  </a:moveTo>
                  <a:lnTo>
                    <a:pt x="0" y="0"/>
                  </a:lnTo>
                  <a:lnTo>
                    <a:pt x="0" y="731519"/>
                  </a:lnTo>
                  <a:lnTo>
                    <a:pt x="8046720" y="731519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2960" y="3153537"/>
            <a:ext cx="1236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D9387"/>
                </a:solidFill>
                <a:latin typeface="Trebuchet MS"/>
                <a:cs typeface="Trebuchet MS"/>
              </a:rPr>
              <a:t>System</a:t>
            </a:r>
            <a:r>
              <a:rPr sz="1400" b="1" spc="-4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Testing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6333" y="3078860"/>
            <a:ext cx="5253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Full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system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validation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including</a:t>
            </a:r>
            <a:r>
              <a:rPr sz="1200" spc="-5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deployment,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cross-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browser</a:t>
            </a:r>
            <a:r>
              <a:rPr sz="1200" spc="1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compatibility,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mobile responsiveness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82" y="3741254"/>
            <a:ext cx="8112286" cy="7973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8640" y="3758184"/>
            <a:ext cx="8046720" cy="731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spcBef>
                <a:spcPts val="5"/>
              </a:spcBef>
              <a:tabLst>
                <a:tab pos="2377440" algn="l"/>
              </a:tabLst>
            </a:pP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Performance</a:t>
            </a:r>
            <a:r>
              <a:rPr sz="1400" b="1" spc="-3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400" b="1" spc="-10" dirty="0">
                <a:solidFill>
                  <a:srgbClr val="0D9387"/>
                </a:solidFill>
                <a:latin typeface="Trebuchet MS"/>
                <a:cs typeface="Trebuchet MS"/>
              </a:rPr>
              <a:t>Testing</a:t>
            </a:r>
            <a:r>
              <a:rPr sz="1400" b="1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	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800" spc="-52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spc="-15" baseline="2314" dirty="0">
                <a:solidFill>
                  <a:srgbClr val="1E293A"/>
                </a:solidFill>
                <a:latin typeface="Calibri"/>
                <a:cs typeface="Calibri"/>
              </a:rPr>
              <a:t>accuracy, inference</a:t>
            </a:r>
            <a:r>
              <a:rPr sz="1800" spc="-67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speed,</a:t>
            </a:r>
            <a:r>
              <a:rPr sz="1800" spc="-30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800" spc="-44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API</a:t>
            </a:r>
            <a:r>
              <a:rPr sz="1800" spc="-15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response</a:t>
            </a:r>
            <a:r>
              <a:rPr sz="1800" spc="-30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800" baseline="2314" dirty="0">
                <a:solidFill>
                  <a:srgbClr val="1E293A"/>
                </a:solidFill>
                <a:latin typeface="Calibri"/>
                <a:cs typeface="Calibri"/>
              </a:rPr>
              <a:t>time</a:t>
            </a:r>
            <a:r>
              <a:rPr sz="1800" spc="-15" baseline="2314" dirty="0">
                <a:solidFill>
                  <a:srgbClr val="1E293A"/>
                </a:solidFill>
                <a:latin typeface="Calibri"/>
                <a:cs typeface="Calibri"/>
              </a:rPr>
              <a:t xml:space="preserve"> benchmarking</a:t>
            </a:r>
            <a:endParaRPr sz="1800" baseline="2314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14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419" y="143002"/>
            <a:ext cx="39293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API</a:t>
            </a:r>
            <a:r>
              <a:rPr spc="-45" dirty="0"/>
              <a:t xml:space="preserve"> </a:t>
            </a:r>
            <a:r>
              <a:rPr dirty="0"/>
              <a:t>Endpoints</a:t>
            </a:r>
            <a:r>
              <a:rPr spc="-65" dirty="0"/>
              <a:t xml:space="preserve"> </a:t>
            </a:r>
            <a:r>
              <a:rPr dirty="0"/>
              <a:t>&amp;</a:t>
            </a:r>
            <a:r>
              <a:rPr spc="-75" dirty="0"/>
              <a:t xml:space="preserve"> </a:t>
            </a:r>
            <a:r>
              <a:rPr spc="-2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02055"/>
              </p:ext>
            </p:extLst>
          </p:nvPr>
        </p:nvGraphicFramePr>
        <p:xfrm>
          <a:off x="545465" y="1185544"/>
          <a:ext cx="8046720" cy="1522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Endpoint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/api/firs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GET/POST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List all FIRs or file a new FIR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JSON: FIR array or created FIR object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0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Generate AI case summary via Google Gemini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JSON: summary, crime type, urgency score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/a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ttention-map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Check for similar existing FIRs using NLP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JSON: similarity score and matched FIR list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disease-info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Fetch upcoming court hearing schedule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JSON: hearing list with dates and case info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lang="en-US" sz="10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health-check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0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Authenticate user and issue JWT tokens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000" dirty="0">
                          <a:solidFill>
                            <a:srgbClr val="1E293A"/>
                          </a:solidFill>
                          <a:latin typeface="Calibri"/>
                          <a:ea typeface="+mn-ea"/>
                          <a:cs typeface="Calibri"/>
                        </a:rPr>
                        <a:t>JSON: access token + refresh token</a:t>
                      </a:r>
                      <a:endParaRPr sz="1000" dirty="0">
                        <a:solidFill>
                          <a:srgbClr val="1E293A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15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3270884"/>
            <a:ext cx="6780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All</a:t>
            </a:r>
            <a:r>
              <a:rPr sz="1200" i="1" spc="-2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endpoints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validated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for</a:t>
            </a:r>
            <a:r>
              <a:rPr sz="1200" i="1" spc="-4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correct</a:t>
            </a:r>
            <a:r>
              <a:rPr sz="1200" i="1" spc="-2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HTTP</a:t>
            </a:r>
            <a:r>
              <a:rPr sz="1200" i="1" spc="-1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status</a:t>
            </a:r>
            <a:r>
              <a:rPr sz="1200" i="1" spc="-4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codes,</a:t>
            </a:r>
            <a:r>
              <a:rPr sz="1200" i="1" spc="-3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JSON</a:t>
            </a:r>
            <a:r>
              <a:rPr sz="1200" i="1" spc="-2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response</a:t>
            </a:r>
            <a:r>
              <a:rPr sz="1200" i="1" spc="-2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spc="-10" dirty="0">
                <a:solidFill>
                  <a:srgbClr val="465469"/>
                </a:solidFill>
                <a:latin typeface="Calibri"/>
                <a:cs typeface="Calibri"/>
              </a:rPr>
              <a:t>structure,</a:t>
            </a:r>
            <a:r>
              <a:rPr sz="1200" i="1" spc="-4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error</a:t>
            </a:r>
            <a:r>
              <a:rPr sz="1200" i="1" spc="-2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handling,</a:t>
            </a:r>
            <a:r>
              <a:rPr sz="1200" i="1" spc="-2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and</a:t>
            </a:r>
            <a:r>
              <a:rPr sz="1200" i="1" spc="-30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dirty="0">
                <a:solidFill>
                  <a:srgbClr val="465469"/>
                </a:solidFill>
                <a:latin typeface="Calibri"/>
                <a:cs typeface="Calibri"/>
              </a:rPr>
              <a:t>edge</a:t>
            </a:r>
            <a:r>
              <a:rPr sz="1200" i="1" spc="-25" dirty="0">
                <a:solidFill>
                  <a:srgbClr val="465469"/>
                </a:solidFill>
                <a:latin typeface="Calibri"/>
                <a:cs typeface="Calibri"/>
              </a:rPr>
              <a:t xml:space="preserve"> </a:t>
            </a:r>
            <a:r>
              <a:rPr sz="1200" i="1" spc="-10" dirty="0">
                <a:solidFill>
                  <a:srgbClr val="465469"/>
                </a:solidFill>
                <a:latin typeface="Calibri"/>
                <a:cs typeface="Calibri"/>
              </a:rPr>
              <a:t>cases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Results:</a:t>
            </a:r>
            <a:r>
              <a:rPr spc="-130" dirty="0"/>
              <a:t xml:space="preserve"> </a:t>
            </a:r>
            <a:r>
              <a:rPr spc="-10" dirty="0"/>
              <a:t>Performance</a:t>
            </a:r>
            <a:r>
              <a:rPr spc="-110" dirty="0"/>
              <a:t xml:space="preserve"> </a:t>
            </a:r>
            <a:r>
              <a:rPr spc="-10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87780" y="1331086"/>
            <a:ext cx="4474210" cy="2797175"/>
            <a:chOff x="787780" y="1331086"/>
            <a:chExt cx="4474210" cy="2797175"/>
          </a:xfrm>
        </p:grpSpPr>
        <p:sp>
          <p:nvSpPr>
            <p:cNvPr id="5" name="object 5"/>
            <p:cNvSpPr/>
            <p:nvPr/>
          </p:nvSpPr>
          <p:spPr>
            <a:xfrm>
              <a:off x="833780" y="1337436"/>
              <a:ext cx="4421505" cy="2297430"/>
            </a:xfrm>
            <a:custGeom>
              <a:avLst/>
              <a:gdLst/>
              <a:ahLst/>
              <a:cxnLst/>
              <a:rect l="l" t="t" r="r" b="b"/>
              <a:pathLst>
                <a:path w="4421505" h="2297429">
                  <a:moveTo>
                    <a:pt x="3131667" y="2297303"/>
                  </a:moveTo>
                  <a:lnTo>
                    <a:pt x="3500475" y="2297303"/>
                  </a:lnTo>
                </a:path>
                <a:path w="4421505" h="2297429">
                  <a:moveTo>
                    <a:pt x="4236567" y="2297303"/>
                  </a:moveTo>
                  <a:lnTo>
                    <a:pt x="4421479" y="2297303"/>
                  </a:lnTo>
                </a:path>
                <a:path w="4421505" h="2297429">
                  <a:moveTo>
                    <a:pt x="0" y="2297303"/>
                  </a:moveTo>
                  <a:lnTo>
                    <a:pt x="184251" y="2297303"/>
                  </a:lnTo>
                </a:path>
                <a:path w="4421505" h="2297429">
                  <a:moveTo>
                    <a:pt x="2026767" y="2297303"/>
                  </a:moveTo>
                  <a:lnTo>
                    <a:pt x="2395575" y="2297303"/>
                  </a:lnTo>
                </a:path>
                <a:path w="4421505" h="2297429">
                  <a:moveTo>
                    <a:pt x="921867" y="2297303"/>
                  </a:moveTo>
                  <a:lnTo>
                    <a:pt x="1289151" y="2297303"/>
                  </a:lnTo>
                </a:path>
                <a:path w="4421505" h="2297429">
                  <a:moveTo>
                    <a:pt x="4236567" y="1837055"/>
                  </a:moveTo>
                  <a:lnTo>
                    <a:pt x="4421479" y="1837055"/>
                  </a:lnTo>
                </a:path>
                <a:path w="4421505" h="2297429">
                  <a:moveTo>
                    <a:pt x="0" y="1837055"/>
                  </a:moveTo>
                  <a:lnTo>
                    <a:pt x="184251" y="1837055"/>
                  </a:lnTo>
                </a:path>
                <a:path w="4421505" h="2297429">
                  <a:moveTo>
                    <a:pt x="3131667" y="1837055"/>
                  </a:moveTo>
                  <a:lnTo>
                    <a:pt x="3500475" y="1837055"/>
                  </a:lnTo>
                </a:path>
                <a:path w="4421505" h="2297429">
                  <a:moveTo>
                    <a:pt x="674979" y="1837055"/>
                  </a:moveTo>
                  <a:lnTo>
                    <a:pt x="1289151" y="1837055"/>
                  </a:lnTo>
                </a:path>
                <a:path w="4421505" h="2297429">
                  <a:moveTo>
                    <a:pt x="2026767" y="1837055"/>
                  </a:moveTo>
                  <a:lnTo>
                    <a:pt x="2395575" y="1837055"/>
                  </a:lnTo>
                </a:path>
                <a:path w="4421505" h="2297429">
                  <a:moveTo>
                    <a:pt x="4236567" y="1378331"/>
                  </a:moveTo>
                  <a:lnTo>
                    <a:pt x="4421479" y="1378331"/>
                  </a:lnTo>
                </a:path>
                <a:path w="4421505" h="2297429">
                  <a:moveTo>
                    <a:pt x="0" y="1378331"/>
                  </a:moveTo>
                  <a:lnTo>
                    <a:pt x="1289151" y="1378331"/>
                  </a:lnTo>
                </a:path>
                <a:path w="4421505" h="2297429">
                  <a:moveTo>
                    <a:pt x="2026767" y="1378331"/>
                  </a:moveTo>
                  <a:lnTo>
                    <a:pt x="2395575" y="1378331"/>
                  </a:lnTo>
                </a:path>
                <a:path w="4421505" h="2297429">
                  <a:moveTo>
                    <a:pt x="3131667" y="1378331"/>
                  </a:moveTo>
                  <a:lnTo>
                    <a:pt x="3500475" y="1378331"/>
                  </a:lnTo>
                </a:path>
                <a:path w="4421505" h="2297429">
                  <a:moveTo>
                    <a:pt x="0" y="918082"/>
                  </a:moveTo>
                  <a:lnTo>
                    <a:pt x="2395575" y="918082"/>
                  </a:lnTo>
                </a:path>
                <a:path w="4421505" h="2297429">
                  <a:moveTo>
                    <a:pt x="4236567" y="918082"/>
                  </a:moveTo>
                  <a:lnTo>
                    <a:pt x="4421479" y="918082"/>
                  </a:lnTo>
                </a:path>
                <a:path w="4421505" h="2297429">
                  <a:moveTo>
                    <a:pt x="2640939" y="918082"/>
                  </a:moveTo>
                  <a:lnTo>
                    <a:pt x="3500475" y="918082"/>
                  </a:lnTo>
                </a:path>
                <a:path w="4421505" h="2297429">
                  <a:moveTo>
                    <a:pt x="0" y="459359"/>
                  </a:moveTo>
                  <a:lnTo>
                    <a:pt x="4421479" y="459359"/>
                  </a:lnTo>
                </a:path>
                <a:path w="4421505" h="2297429">
                  <a:moveTo>
                    <a:pt x="0" y="0"/>
                  </a:moveTo>
                  <a:lnTo>
                    <a:pt x="4421479" y="0"/>
                  </a:lnTo>
                </a:path>
              </a:pathLst>
            </a:custGeom>
            <a:ln w="6350">
              <a:solidFill>
                <a:srgbClr val="E8E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8032" y="1981199"/>
              <a:ext cx="3561715" cy="2112645"/>
            </a:xfrm>
            <a:custGeom>
              <a:avLst/>
              <a:gdLst/>
              <a:ahLst/>
              <a:cxnLst/>
              <a:rect l="l" t="t" r="r" b="b"/>
              <a:pathLst>
                <a:path w="3561715" h="2112645">
                  <a:moveTo>
                    <a:pt x="245364" y="964692"/>
                  </a:moveTo>
                  <a:lnTo>
                    <a:pt x="0" y="964692"/>
                  </a:lnTo>
                  <a:lnTo>
                    <a:pt x="0" y="2112581"/>
                  </a:lnTo>
                  <a:lnTo>
                    <a:pt x="245364" y="2112581"/>
                  </a:lnTo>
                  <a:lnTo>
                    <a:pt x="245364" y="964692"/>
                  </a:lnTo>
                  <a:close/>
                </a:path>
                <a:path w="3561715" h="2112645">
                  <a:moveTo>
                    <a:pt x="1350264" y="431292"/>
                  </a:moveTo>
                  <a:lnTo>
                    <a:pt x="1104900" y="431292"/>
                  </a:lnTo>
                  <a:lnTo>
                    <a:pt x="1104900" y="2112581"/>
                  </a:lnTo>
                  <a:lnTo>
                    <a:pt x="1350264" y="2112581"/>
                  </a:lnTo>
                  <a:lnTo>
                    <a:pt x="1350264" y="431292"/>
                  </a:lnTo>
                  <a:close/>
                </a:path>
                <a:path w="3561715" h="2112645">
                  <a:moveTo>
                    <a:pt x="2456688" y="210312"/>
                  </a:moveTo>
                  <a:lnTo>
                    <a:pt x="2211324" y="210312"/>
                  </a:lnTo>
                  <a:lnTo>
                    <a:pt x="2211324" y="2112581"/>
                  </a:lnTo>
                  <a:lnTo>
                    <a:pt x="2456688" y="2112581"/>
                  </a:lnTo>
                  <a:lnTo>
                    <a:pt x="2456688" y="210312"/>
                  </a:lnTo>
                  <a:close/>
                </a:path>
                <a:path w="3561715" h="2112645">
                  <a:moveTo>
                    <a:pt x="3561588" y="0"/>
                  </a:moveTo>
                  <a:lnTo>
                    <a:pt x="3316224" y="0"/>
                  </a:lnTo>
                  <a:lnTo>
                    <a:pt x="3316224" y="2112581"/>
                  </a:lnTo>
                  <a:lnTo>
                    <a:pt x="3561588" y="2112581"/>
                  </a:lnTo>
                  <a:lnTo>
                    <a:pt x="3561588" y="0"/>
                  </a:lnTo>
                  <a:close/>
                </a:path>
              </a:pathLst>
            </a:custGeom>
            <a:solidFill>
              <a:srgbClr val="0E2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63396" y="1981199"/>
              <a:ext cx="3561715" cy="2112645"/>
            </a:xfrm>
            <a:custGeom>
              <a:avLst/>
              <a:gdLst/>
              <a:ahLst/>
              <a:cxnLst/>
              <a:rect l="l" t="t" r="r" b="b"/>
              <a:pathLst>
                <a:path w="3561715" h="2112645">
                  <a:moveTo>
                    <a:pt x="245364" y="1101852"/>
                  </a:moveTo>
                  <a:lnTo>
                    <a:pt x="0" y="1101852"/>
                  </a:lnTo>
                  <a:lnTo>
                    <a:pt x="0" y="2112581"/>
                  </a:lnTo>
                  <a:lnTo>
                    <a:pt x="245364" y="2112581"/>
                  </a:lnTo>
                  <a:lnTo>
                    <a:pt x="245364" y="1101852"/>
                  </a:lnTo>
                  <a:close/>
                </a:path>
                <a:path w="3561715" h="2112645">
                  <a:moveTo>
                    <a:pt x="1351788" y="550164"/>
                  </a:moveTo>
                  <a:lnTo>
                    <a:pt x="1104900" y="550164"/>
                  </a:lnTo>
                  <a:lnTo>
                    <a:pt x="1104900" y="2112581"/>
                  </a:lnTo>
                  <a:lnTo>
                    <a:pt x="1351788" y="2112581"/>
                  </a:lnTo>
                  <a:lnTo>
                    <a:pt x="1351788" y="550164"/>
                  </a:lnTo>
                  <a:close/>
                </a:path>
                <a:path w="3561715" h="2112645">
                  <a:moveTo>
                    <a:pt x="2456688" y="274320"/>
                  </a:moveTo>
                  <a:lnTo>
                    <a:pt x="2211324" y="274320"/>
                  </a:lnTo>
                  <a:lnTo>
                    <a:pt x="2211324" y="2112581"/>
                  </a:lnTo>
                  <a:lnTo>
                    <a:pt x="2456688" y="2112581"/>
                  </a:lnTo>
                  <a:lnTo>
                    <a:pt x="2456688" y="274320"/>
                  </a:lnTo>
                  <a:close/>
                </a:path>
                <a:path w="3561715" h="2112645">
                  <a:moveTo>
                    <a:pt x="3561588" y="0"/>
                  </a:moveTo>
                  <a:lnTo>
                    <a:pt x="3316224" y="0"/>
                  </a:lnTo>
                  <a:lnTo>
                    <a:pt x="3316224" y="2112581"/>
                  </a:lnTo>
                  <a:lnTo>
                    <a:pt x="3561588" y="2112581"/>
                  </a:lnTo>
                  <a:lnTo>
                    <a:pt x="3561588" y="0"/>
                  </a:lnTo>
                  <a:close/>
                </a:path>
              </a:pathLst>
            </a:custGeom>
            <a:solidFill>
              <a:srgbClr val="0D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8760" y="1981199"/>
              <a:ext cx="3561715" cy="2112645"/>
            </a:xfrm>
            <a:custGeom>
              <a:avLst/>
              <a:gdLst/>
              <a:ahLst/>
              <a:cxnLst/>
              <a:rect l="l" t="t" r="r" b="b"/>
              <a:pathLst>
                <a:path w="3561715" h="2112645">
                  <a:moveTo>
                    <a:pt x="246888" y="1193292"/>
                  </a:moveTo>
                  <a:lnTo>
                    <a:pt x="0" y="1193292"/>
                  </a:lnTo>
                  <a:lnTo>
                    <a:pt x="0" y="2112581"/>
                  </a:lnTo>
                  <a:lnTo>
                    <a:pt x="246888" y="2112581"/>
                  </a:lnTo>
                  <a:lnTo>
                    <a:pt x="246888" y="1193292"/>
                  </a:lnTo>
                  <a:close/>
                </a:path>
                <a:path w="3561715" h="2112645">
                  <a:moveTo>
                    <a:pt x="1351788" y="550164"/>
                  </a:moveTo>
                  <a:lnTo>
                    <a:pt x="1106424" y="550164"/>
                  </a:lnTo>
                  <a:lnTo>
                    <a:pt x="1106424" y="2112581"/>
                  </a:lnTo>
                  <a:lnTo>
                    <a:pt x="1351788" y="2112581"/>
                  </a:lnTo>
                  <a:lnTo>
                    <a:pt x="1351788" y="550164"/>
                  </a:lnTo>
                  <a:close/>
                </a:path>
                <a:path w="3561715" h="2112645">
                  <a:moveTo>
                    <a:pt x="2456688" y="274320"/>
                  </a:moveTo>
                  <a:lnTo>
                    <a:pt x="2211324" y="274320"/>
                  </a:lnTo>
                  <a:lnTo>
                    <a:pt x="2211324" y="2112581"/>
                  </a:lnTo>
                  <a:lnTo>
                    <a:pt x="2456688" y="2112581"/>
                  </a:lnTo>
                  <a:lnTo>
                    <a:pt x="2456688" y="274320"/>
                  </a:lnTo>
                  <a:close/>
                </a:path>
                <a:path w="3561715" h="2112645">
                  <a:moveTo>
                    <a:pt x="3561588" y="0"/>
                  </a:moveTo>
                  <a:lnTo>
                    <a:pt x="3316224" y="0"/>
                  </a:lnTo>
                  <a:lnTo>
                    <a:pt x="3316224" y="2112581"/>
                  </a:lnTo>
                  <a:lnTo>
                    <a:pt x="3561588" y="2112581"/>
                  </a:lnTo>
                  <a:lnTo>
                    <a:pt x="3561588" y="0"/>
                  </a:lnTo>
                  <a:close/>
                </a:path>
              </a:pathLst>
            </a:custGeom>
            <a:solidFill>
              <a:srgbClr val="13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780" y="1337309"/>
              <a:ext cx="4467860" cy="2791460"/>
            </a:xfrm>
            <a:custGeom>
              <a:avLst/>
              <a:gdLst/>
              <a:ahLst/>
              <a:cxnLst/>
              <a:rect l="l" t="t" r="r" b="b"/>
              <a:pathLst>
                <a:path w="4467860" h="2791460">
                  <a:moveTo>
                    <a:pt x="45999" y="2756471"/>
                  </a:moveTo>
                  <a:lnTo>
                    <a:pt x="45999" y="0"/>
                  </a:lnTo>
                </a:path>
                <a:path w="4467860" h="2791460">
                  <a:moveTo>
                    <a:pt x="0" y="2756471"/>
                  </a:moveTo>
                  <a:lnTo>
                    <a:pt x="45999" y="2756471"/>
                  </a:lnTo>
                </a:path>
                <a:path w="4467860" h="2791460">
                  <a:moveTo>
                    <a:pt x="0" y="2297429"/>
                  </a:moveTo>
                  <a:lnTo>
                    <a:pt x="45999" y="2297429"/>
                  </a:lnTo>
                </a:path>
                <a:path w="4467860" h="2791460">
                  <a:moveTo>
                    <a:pt x="0" y="1837182"/>
                  </a:moveTo>
                  <a:lnTo>
                    <a:pt x="45999" y="1837182"/>
                  </a:lnTo>
                </a:path>
                <a:path w="4467860" h="2791460">
                  <a:moveTo>
                    <a:pt x="0" y="1378458"/>
                  </a:moveTo>
                  <a:lnTo>
                    <a:pt x="45999" y="1378458"/>
                  </a:lnTo>
                </a:path>
                <a:path w="4467860" h="2791460">
                  <a:moveTo>
                    <a:pt x="0" y="918209"/>
                  </a:moveTo>
                  <a:lnTo>
                    <a:pt x="45999" y="918209"/>
                  </a:lnTo>
                </a:path>
                <a:path w="4467860" h="2791460">
                  <a:moveTo>
                    <a:pt x="0" y="459486"/>
                  </a:moveTo>
                  <a:lnTo>
                    <a:pt x="45999" y="459486"/>
                  </a:lnTo>
                </a:path>
                <a:path w="4467860" h="2791460">
                  <a:moveTo>
                    <a:pt x="0" y="126"/>
                  </a:moveTo>
                  <a:lnTo>
                    <a:pt x="45999" y="126"/>
                  </a:lnTo>
                </a:path>
                <a:path w="4467860" h="2791460">
                  <a:moveTo>
                    <a:pt x="45999" y="2756471"/>
                  </a:moveTo>
                  <a:lnTo>
                    <a:pt x="4467479" y="2756471"/>
                  </a:lnTo>
                </a:path>
                <a:path w="4467860" h="2791460">
                  <a:moveTo>
                    <a:pt x="45999" y="2756471"/>
                  </a:moveTo>
                  <a:lnTo>
                    <a:pt x="45999" y="2790952"/>
                  </a:lnTo>
                </a:path>
                <a:path w="4467860" h="2791460">
                  <a:moveTo>
                    <a:pt x="1150746" y="2756471"/>
                  </a:moveTo>
                  <a:lnTo>
                    <a:pt x="1150746" y="2790952"/>
                  </a:lnTo>
                </a:path>
                <a:path w="4467860" h="2791460">
                  <a:moveTo>
                    <a:pt x="2257171" y="2756471"/>
                  </a:moveTo>
                  <a:lnTo>
                    <a:pt x="2257171" y="2790952"/>
                  </a:lnTo>
                </a:path>
                <a:path w="4467860" h="2791460">
                  <a:moveTo>
                    <a:pt x="3362071" y="2756471"/>
                  </a:moveTo>
                  <a:lnTo>
                    <a:pt x="3362071" y="2790952"/>
                  </a:lnTo>
                </a:path>
                <a:path w="4467860" h="2791460">
                  <a:moveTo>
                    <a:pt x="4467479" y="2756471"/>
                  </a:moveTo>
                  <a:lnTo>
                    <a:pt x="4467479" y="2790952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0395" y="3978961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0395" y="351929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395" y="3059938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80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395" y="260032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85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0395" y="2140711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90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0395" y="1681353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95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660" y="1221740"/>
            <a:ext cx="27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3748A"/>
                </a:solidFill>
                <a:latin typeface="Arial MT"/>
                <a:cs typeface="Arial MT"/>
              </a:rPr>
              <a:t>100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5085" y="4140504"/>
            <a:ext cx="743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3748A"/>
                </a:solidFill>
                <a:latin typeface="Arial MT"/>
                <a:cs typeface="Arial MT"/>
              </a:rPr>
              <a:t>Baseline</a:t>
            </a:r>
            <a:r>
              <a:rPr sz="900" spc="-30" dirty="0">
                <a:solidFill>
                  <a:srgbClr val="63748A"/>
                </a:solidFill>
                <a:latin typeface="Arial MT"/>
                <a:cs typeface="Arial MT"/>
              </a:rPr>
              <a:t xml:space="preserve"> </a:t>
            </a:r>
            <a:r>
              <a:rPr sz="900" spc="-25" dirty="0">
                <a:solidFill>
                  <a:srgbClr val="63748A"/>
                </a:solidFill>
                <a:latin typeface="Arial MT"/>
                <a:cs typeface="Arial MT"/>
              </a:rPr>
              <a:t>CNN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06244" y="4140504"/>
            <a:ext cx="572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3748A"/>
                </a:solidFill>
                <a:latin typeface="Arial MT"/>
                <a:cs typeface="Arial MT"/>
              </a:rPr>
              <a:t>ResNet-</a:t>
            </a:r>
            <a:r>
              <a:rPr sz="900" spc="-25" dirty="0">
                <a:solidFill>
                  <a:srgbClr val="63748A"/>
                </a:solidFill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57803" y="4140504"/>
            <a:ext cx="680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3748A"/>
                </a:solidFill>
                <a:latin typeface="Arial MT"/>
                <a:cs typeface="Arial MT"/>
              </a:rPr>
              <a:t>Gemini Only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8390" y="4140504"/>
            <a:ext cx="610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3748A"/>
                </a:solidFill>
                <a:latin typeface="Arial MT"/>
                <a:cs typeface="Arial MT"/>
              </a:rPr>
              <a:t>FIR Portal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01595" y="444869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62779" y="0"/>
                </a:moveTo>
                <a:lnTo>
                  <a:pt x="0" y="0"/>
                </a:lnTo>
                <a:lnTo>
                  <a:pt x="0" y="62779"/>
                </a:lnTo>
                <a:lnTo>
                  <a:pt x="62779" y="62779"/>
                </a:lnTo>
                <a:lnTo>
                  <a:pt x="62779" y="0"/>
                </a:lnTo>
                <a:close/>
              </a:path>
            </a:pathLst>
          </a:custGeom>
          <a:solidFill>
            <a:srgbClr val="0E2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178557" y="4386478"/>
            <a:ext cx="442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Crime Categ.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19197" y="444869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62779" y="0"/>
                </a:moveTo>
                <a:lnTo>
                  <a:pt x="0" y="0"/>
                </a:lnTo>
                <a:lnTo>
                  <a:pt x="0" y="62779"/>
                </a:lnTo>
                <a:lnTo>
                  <a:pt x="62779" y="62779"/>
                </a:lnTo>
                <a:lnTo>
                  <a:pt x="62779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96285" y="4386478"/>
            <a:ext cx="447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Dup. Detect.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40989" y="444869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62779" y="0"/>
                </a:moveTo>
                <a:lnTo>
                  <a:pt x="0" y="0"/>
                </a:lnTo>
                <a:lnTo>
                  <a:pt x="0" y="62779"/>
                </a:lnTo>
                <a:lnTo>
                  <a:pt x="62779" y="62779"/>
                </a:lnTo>
                <a:lnTo>
                  <a:pt x="62779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18078" y="4386478"/>
            <a:ext cx="3003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NER Accuracy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69279" y="1188718"/>
            <a:ext cx="2938318" cy="3125856"/>
          </a:xfrm>
          <a:prstGeom prst="rect">
            <a:avLst/>
          </a:prstGeom>
          <a:solidFill>
            <a:srgbClr val="EFF5F9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164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600" b="1" spc="-10" dirty="0">
                <a:solidFill>
                  <a:srgbClr val="0D9387"/>
                </a:solidFill>
                <a:latin typeface="Trebuchet MS"/>
                <a:cs typeface="Trebuchet MS"/>
              </a:rPr>
              <a:t>FIR Portal</a:t>
            </a:r>
            <a:endParaRPr sz="1600" dirty="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1645"/>
              </a:spcBef>
            </a:pPr>
            <a:r>
              <a:rPr sz="2200" b="1" spc="-25" dirty="0">
                <a:solidFill>
                  <a:srgbClr val="0E2B46"/>
                </a:solidFill>
                <a:latin typeface="Trebuchet MS"/>
                <a:cs typeface="Trebuchet MS"/>
              </a:rPr>
              <a:t>9</a:t>
            </a:r>
            <a:r>
              <a:rPr lang="en-US" sz="2200" b="1" spc="-25" dirty="0">
                <a:solidFill>
                  <a:srgbClr val="0E2B46"/>
                </a:solidFill>
                <a:latin typeface="Trebuchet MS"/>
                <a:cs typeface="Trebuchet MS"/>
              </a:rPr>
              <a:t>4</a:t>
            </a:r>
            <a:r>
              <a:rPr sz="2200" b="1" spc="-25" dirty="0">
                <a:solidFill>
                  <a:srgbClr val="0E2B46"/>
                </a:solidFill>
                <a:latin typeface="Trebuchet MS"/>
                <a:cs typeface="Trebuchet MS"/>
              </a:rPr>
              <a:t>%</a:t>
            </a:r>
            <a:endParaRPr sz="2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solidFill>
                  <a:srgbClr val="63748A"/>
                </a:solidFill>
                <a:latin typeface="Calibri"/>
                <a:cs typeface="Calibri"/>
              </a:rPr>
              <a:t>Crime Categ.</a:t>
            </a:r>
            <a:endParaRPr sz="1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045"/>
              </a:spcBef>
            </a:pPr>
            <a:r>
              <a:rPr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0.8</a:t>
            </a:r>
            <a:r>
              <a:rPr lang="en-US"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1</a:t>
            </a:r>
            <a:endParaRPr sz="2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solidFill>
                  <a:srgbClr val="63748A"/>
                </a:solidFill>
                <a:latin typeface="Calibri"/>
                <a:cs typeface="Calibri"/>
              </a:rPr>
              <a:t>Dup. Detect.</a:t>
            </a:r>
            <a:endParaRPr sz="1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045"/>
              </a:spcBef>
            </a:pPr>
            <a:r>
              <a:rPr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9</a:t>
            </a:r>
            <a:r>
              <a:rPr lang="en-US"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8</a:t>
            </a:r>
            <a:endParaRPr sz="2200" dirty="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solidFill>
                  <a:srgbClr val="63748A"/>
                </a:solidFill>
                <a:latin typeface="Calibri"/>
                <a:cs typeface="Calibri"/>
              </a:rPr>
              <a:t>NER Accuracy</a:t>
            </a:r>
            <a:endParaRPr sz="1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045"/>
              </a:spcBef>
            </a:pPr>
            <a:r>
              <a:rPr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0.9</a:t>
            </a:r>
            <a:r>
              <a:rPr lang="en-US" sz="2200" b="1" spc="-20" dirty="0">
                <a:solidFill>
                  <a:srgbClr val="0E2B46"/>
                </a:solidFill>
                <a:latin typeface="Trebuchet MS"/>
                <a:cs typeface="Trebuchet MS"/>
              </a:rPr>
              <a:t>9.7%   API   Uptime</a:t>
            </a:r>
            <a:endParaRPr sz="2200" dirty="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300"/>
              </a:spcBef>
            </a:pPr>
            <a:r>
              <a:rPr sz="1000" spc="-20" dirty="0">
                <a:solidFill>
                  <a:srgbClr val="63748A"/>
                </a:solidFill>
                <a:latin typeface="Calibri"/>
                <a:cs typeface="Calibri"/>
              </a:rPr>
              <a:t>F1-</a:t>
            </a:r>
            <a:r>
              <a:rPr sz="1000" spc="-10" dirty="0">
                <a:solidFill>
                  <a:srgbClr val="63748A"/>
                </a:solidFill>
                <a:latin typeface="Calibri"/>
                <a:cs typeface="Calibri"/>
              </a:rPr>
              <a:t>Score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16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Results:</a:t>
            </a:r>
            <a:r>
              <a:rPr spc="-65" dirty="0"/>
              <a:t xml:space="preserve"> </a:t>
            </a:r>
            <a:r>
              <a:rPr spc="-10" dirty="0"/>
              <a:t>Detailed</a:t>
            </a:r>
            <a:r>
              <a:rPr spc="-180" dirty="0"/>
              <a:t xml:space="preserve"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121409"/>
            <a:ext cx="2218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E2B46"/>
                </a:solidFill>
                <a:latin typeface="Trebuchet MS"/>
                <a:cs typeface="Trebuchet MS"/>
              </a:rPr>
              <a:t>Training</a:t>
            </a:r>
            <a:r>
              <a:rPr sz="1200" b="1" spc="-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vs</a:t>
            </a:r>
            <a:r>
              <a:rPr sz="1200" b="1" spc="-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spc="-20" dirty="0">
                <a:solidFill>
                  <a:srgbClr val="0E2B46"/>
                </a:solidFill>
                <a:latin typeface="Trebuchet MS"/>
                <a:cs typeface="Trebuchet MS"/>
              </a:rPr>
              <a:t>Validation</a:t>
            </a:r>
            <a:r>
              <a:rPr sz="1200" b="1" spc="-7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spc="-10" dirty="0">
                <a:solidFill>
                  <a:srgbClr val="0E2B46"/>
                </a:solidFill>
                <a:latin typeface="Trebuchet MS"/>
                <a:cs typeface="Trebuchet MS"/>
              </a:rPr>
              <a:t>Accuracy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2815" y="1121409"/>
            <a:ext cx="1226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Confusion</a:t>
            </a:r>
            <a:r>
              <a:rPr sz="1200" b="1" spc="-1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Matrix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225164"/>
            <a:ext cx="174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ROC</a:t>
            </a:r>
            <a:r>
              <a:rPr sz="1200" b="1" spc="-1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Curve</a:t>
            </a:r>
            <a:r>
              <a:rPr sz="1200" b="1" spc="-2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(AUC</a:t>
            </a:r>
            <a:r>
              <a:rPr sz="1200" b="1" spc="-25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dirty="0">
                <a:solidFill>
                  <a:srgbClr val="0E2B46"/>
                </a:solidFill>
                <a:latin typeface="Trebuchet MS"/>
                <a:cs typeface="Trebuchet MS"/>
              </a:rPr>
              <a:t>&gt;</a:t>
            </a:r>
            <a:r>
              <a:rPr sz="1200" b="1" spc="-30" dirty="0">
                <a:solidFill>
                  <a:srgbClr val="0E2B46"/>
                </a:solidFill>
                <a:latin typeface="Trebuchet MS"/>
                <a:cs typeface="Trebuchet MS"/>
              </a:rPr>
              <a:t xml:space="preserve"> </a:t>
            </a:r>
            <a:r>
              <a:rPr sz="1200" b="1" spc="-20" dirty="0">
                <a:solidFill>
                  <a:srgbClr val="0E2B46"/>
                </a:solidFill>
                <a:latin typeface="Trebuchet MS"/>
                <a:cs typeface="Trebuchet MS"/>
              </a:rPr>
              <a:t>0.98)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01504" y="3183567"/>
            <a:ext cx="3906520" cy="1666239"/>
            <a:chOff x="4701504" y="3183567"/>
            <a:chExt cx="3906520" cy="166623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504" y="3183567"/>
              <a:ext cx="3906082" cy="16658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54880" y="3200399"/>
              <a:ext cx="3840479" cy="1600200"/>
            </a:xfrm>
            <a:custGeom>
              <a:avLst/>
              <a:gdLst/>
              <a:ahLst/>
              <a:cxnLst/>
              <a:rect l="l" t="t" r="r" b="b"/>
              <a:pathLst>
                <a:path w="3840479" h="1600200">
                  <a:moveTo>
                    <a:pt x="3840479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3840479" y="1600200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29834" y="3308984"/>
            <a:ext cx="13493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D9387"/>
                </a:solidFill>
                <a:latin typeface="Trebuchet MS"/>
                <a:cs typeface="Trebuchet MS"/>
              </a:rPr>
              <a:t>Key</a:t>
            </a:r>
            <a:r>
              <a:rPr sz="1300" b="1" spc="-1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300" b="1" spc="-10" dirty="0">
                <a:solidFill>
                  <a:srgbClr val="0D9387"/>
                </a:solidFill>
                <a:latin typeface="Trebuchet MS"/>
                <a:cs typeface="Trebuchet MS"/>
              </a:rPr>
              <a:t>Observations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17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029834" y="3718052"/>
            <a:ext cx="3111500" cy="884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High classification accuracy achieved for all crime types including rare categories</a:t>
            </a:r>
          </a:p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Minimal confusion between Assault and Theft due to overlapping keyword sets</a:t>
            </a:r>
          </a:p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Duplicate detection performance improves with larger FIR corpus size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D51B3C-8563-78E6-AE18-99BB55DB1C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834" y="1403983"/>
            <a:ext cx="3111500" cy="17171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FB10B4-3675-9F20-30ED-789B09F33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1" y="1392079"/>
            <a:ext cx="3261359" cy="17171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810716-6CB7-9D21-48C8-7CDF2474A0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3522664"/>
            <a:ext cx="3489959" cy="1451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95" dirty="0"/>
              <a:t xml:space="preserve"> </a:t>
            </a:r>
            <a:r>
              <a:rPr dirty="0"/>
              <a:t>Complexity</a:t>
            </a:r>
            <a:r>
              <a:rPr spc="-95" dirty="0"/>
              <a:t xml:space="preserve"> </a:t>
            </a:r>
            <a:r>
              <a:rPr spc="-10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84783"/>
              </p:ext>
            </p:extLst>
          </p:nvPr>
        </p:nvGraphicFramePr>
        <p:xfrm>
          <a:off x="545465" y="1185544"/>
          <a:ext cx="8046719" cy="136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 Lifecycle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 Features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 xml:space="preserve"> Size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Audit Trail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  <a:solidFill>
                      <a:srgbClr val="0D93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r>
                        <a:rPr sz="1200" spc="-6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CNN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Manual / Partial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ResNet-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Digital Entry Only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None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98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18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Commercial CMS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Full Lifecycle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None / Basic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14</a:t>
                      </a:r>
                      <a:r>
                        <a:rPr sz="120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EfficientNet</a:t>
                      </a:r>
                      <a:r>
                        <a:rPr sz="1200" b="1" spc="5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(Proposed)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Full + AI-Assisted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lang="en-US" sz="120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sz="1200" b="1" spc="-10" dirty="0">
                          <a:solidFill>
                            <a:srgbClr val="0D9387"/>
                          </a:solidFill>
                          <a:latin typeface="Calibri"/>
                          <a:cs typeface="Calibri"/>
                        </a:rPr>
                        <a:t>.0%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~46</a:t>
                      </a:r>
                      <a:r>
                        <a:rPr sz="1200" b="1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b="1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~</a:t>
                      </a:r>
                      <a:r>
                        <a:rPr lang="en-US" sz="1200" b="1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200" b="1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 xml:space="preserve"> </a:t>
                      </a:r>
                      <a:r>
                        <a:rPr sz="1200" b="1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6350">
                      <a:solidFill>
                        <a:srgbClr val="E8ECF1"/>
                      </a:solidFill>
                      <a:prstDash val="solid"/>
                    </a:lnL>
                    <a:lnR w="6350">
                      <a:solidFill>
                        <a:srgbClr val="E8ECF1"/>
                      </a:solidFill>
                      <a:prstDash val="solid"/>
                    </a:lnR>
                    <a:lnT w="6350">
                      <a:solidFill>
                        <a:srgbClr val="E8ECF1"/>
                      </a:solidFill>
                      <a:prstDash val="solid"/>
                    </a:lnT>
                    <a:lnB w="6350">
                      <a:solidFill>
                        <a:srgbClr val="E8EC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18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3254121"/>
            <a:ext cx="803719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solidFill>
                  <a:srgbClr val="1E293A"/>
                </a:solidFill>
                <a:latin typeface="Calibri"/>
                <a:cs typeface="Calibri"/>
              </a:rPr>
              <a:t>EfficientNet</a:t>
            </a:r>
            <a:r>
              <a:rPr sz="1300" i="1" spc="-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achieves</a:t>
            </a:r>
            <a:r>
              <a:rPr sz="1300" i="1" spc="-4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300" i="1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highest</a:t>
            </a:r>
            <a:r>
              <a:rPr sz="1300" i="1" spc="-4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accuracy</a:t>
            </a:r>
            <a:r>
              <a:rPr sz="1300" i="1" spc="-4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with</a:t>
            </a:r>
            <a:r>
              <a:rPr sz="1300" i="1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optimal</a:t>
            </a:r>
            <a:r>
              <a:rPr sz="1300" i="1" spc="-2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balance</a:t>
            </a:r>
            <a:r>
              <a:rPr sz="1300" i="1" spc="-5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of</a:t>
            </a:r>
            <a:r>
              <a:rPr sz="1300" i="1" spc="-1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r>
              <a:rPr sz="1300" i="1" spc="-2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size</a:t>
            </a:r>
            <a:r>
              <a:rPr sz="1300" i="1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300" i="1" spc="-3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inference</a:t>
            </a:r>
            <a:r>
              <a:rPr sz="1300" i="1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speed,</a:t>
            </a:r>
            <a:r>
              <a:rPr sz="1300" i="1" spc="-4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making</a:t>
            </a:r>
            <a:r>
              <a:rPr sz="1300" i="1" spc="-3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it</a:t>
            </a:r>
            <a:r>
              <a:rPr sz="1300" i="1" spc="-1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dirty="0">
                <a:solidFill>
                  <a:srgbClr val="1E293A"/>
                </a:solidFill>
                <a:latin typeface="Calibri"/>
                <a:cs typeface="Calibri"/>
              </a:rPr>
              <a:t>suitable</a:t>
            </a:r>
            <a:r>
              <a:rPr sz="1300" i="1" spc="-4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300" i="1" spc="-25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300" i="1" spc="-10" dirty="0">
                <a:solidFill>
                  <a:srgbClr val="1E293A"/>
                </a:solidFill>
                <a:latin typeface="Calibri"/>
                <a:cs typeface="Calibri"/>
              </a:rPr>
              <a:t>real-time cloud-deployed agricultural applications</a:t>
            </a:r>
            <a:r>
              <a:rPr sz="1300" i="1" spc="-10" dirty="0">
                <a:solidFill>
                  <a:srgbClr val="1E293A"/>
                </a:solidFill>
                <a:latin typeface="Calibri"/>
                <a:cs typeface="Calibri"/>
              </a:rPr>
              <a:t>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" y="114300"/>
            <a:ext cx="685800" cy="6400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3347" y="1366265"/>
            <a:ext cx="6706870" cy="26423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Successfully developed a full-stack AI-powered FIR management web portal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Achieved 94% crime categorization accuracy using Google Gemini API + rule-based keyword scoring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Duplicate detection via sentence-transformers prevents redundant FIR filing effectively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Citizens can track FIR status 24/7 using FIR number through the public tracking portal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Complete audit trail ensures accountability — no FIR modification can occur silently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Role-based access control (5 roles) enforces strict data security across all 35+ API endpoints</a:t>
            </a:r>
          </a:p>
          <a:p>
            <a:pPr marL="355600" marR="5080" indent="-342900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lang="en-US" sz="1400" spc="-10" dirty="0">
                <a:solidFill>
                  <a:srgbClr val="1E293A"/>
                </a:solidFill>
                <a:latin typeface="Calibri"/>
                <a:cs typeface="Calibri"/>
              </a:rPr>
              <a:t>Designed as an intelligent, scalable portal for real police station digital transformation</a:t>
            </a:r>
            <a:endParaRPr sz="1400" spc="-10" dirty="0">
              <a:solidFill>
                <a:srgbClr val="1E293A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19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204" dirty="0"/>
              <a:t xml:space="preserve"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5282" y="1217453"/>
            <a:ext cx="8112759" cy="660400"/>
            <a:chOff x="495282" y="1217453"/>
            <a:chExt cx="8112759" cy="660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1217453"/>
              <a:ext cx="8112286" cy="6603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39" y="1234439"/>
              <a:ext cx="8046720" cy="594360"/>
            </a:xfrm>
            <a:custGeom>
              <a:avLst/>
              <a:gdLst/>
              <a:ahLst/>
              <a:cxnLst/>
              <a:rect l="l" t="t" r="r" b="b"/>
              <a:pathLst>
                <a:path w="8046720" h="594360">
                  <a:moveTo>
                    <a:pt x="8046720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8046720" y="594360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22960" y="1418971"/>
            <a:ext cx="18453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b="1" spc="-20" dirty="0">
                <a:solidFill>
                  <a:srgbClr val="0D9387"/>
                </a:solidFill>
                <a:latin typeface="Trebuchet MS"/>
                <a:cs typeface="Trebuchet MS"/>
              </a:rPr>
              <a:t>Real UIDAI Aadhaar Integration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1035" y="1342085"/>
            <a:ext cx="5064125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Replace mock Aadhaar data with live UIDAI API for real identity verification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82" y="1903253"/>
            <a:ext cx="8112286" cy="6603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8640" y="1920239"/>
            <a:ext cx="8046720" cy="55976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tabLst>
                <a:tab pos="2651760" algn="l"/>
              </a:tabLst>
            </a:pPr>
            <a:r>
              <a:rPr sz="1200" b="1" dirty="0">
                <a:solidFill>
                  <a:srgbClr val="0D9387"/>
                </a:solidFill>
                <a:latin typeface="Trebuchet MS"/>
                <a:cs typeface="Trebuchet MS"/>
              </a:rPr>
              <a:t>AWS</a:t>
            </a:r>
            <a:r>
              <a:rPr sz="1200" b="1" spc="-3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200" b="1" dirty="0">
                <a:solidFill>
                  <a:srgbClr val="0D9387"/>
                </a:solidFill>
                <a:latin typeface="Trebuchet MS"/>
                <a:cs typeface="Trebuchet MS"/>
              </a:rPr>
              <a:t>S3</a:t>
            </a:r>
            <a:r>
              <a:rPr sz="1200" b="1" spc="-4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200" b="1" spc="-10" dirty="0">
                <a:solidFill>
                  <a:srgbClr val="0D9387"/>
                </a:solidFill>
                <a:latin typeface="Trebuchet MS"/>
                <a:cs typeface="Trebuchet MS"/>
              </a:rPr>
              <a:t>File Storage</a:t>
            </a:r>
            <a:r>
              <a:rPr sz="1200" b="1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	</a:t>
            </a:r>
            <a:r>
              <a:rPr lang="en-US" sz="1650" baseline="2525" dirty="0">
                <a:solidFill>
                  <a:srgbClr val="1E293A"/>
                </a:solidFill>
                <a:latin typeface="Calibri"/>
                <a:cs typeface="Calibri"/>
              </a:rPr>
              <a:t>Migrate evidence file storage from local disk to AWS S3 for scalability</a:t>
            </a:r>
          </a:p>
          <a:p>
            <a:pPr marL="273685">
              <a:lnSpc>
                <a:spcPct val="100000"/>
              </a:lnSpc>
              <a:tabLst>
                <a:tab pos="2651760" algn="l"/>
              </a:tabLst>
            </a:pPr>
            <a:endParaRPr sz="1650" baseline="2525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82" y="2589053"/>
            <a:ext cx="8112286" cy="6603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8640" y="2606039"/>
            <a:ext cx="8046720" cy="560410"/>
          </a:xfrm>
          <a:prstGeom prst="rect">
            <a:avLst/>
          </a:prstGeom>
          <a:solidFill>
            <a:srgbClr val="EFF5F9"/>
          </a:solidFill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tabLst>
                <a:tab pos="2651760" algn="l"/>
              </a:tabLst>
            </a:pPr>
            <a:r>
              <a:rPr lang="en-IN" sz="1200" b="1" spc="-10" dirty="0">
                <a:solidFill>
                  <a:srgbClr val="0D9387"/>
                </a:solidFill>
                <a:latin typeface="Trebuchet MS"/>
                <a:cs typeface="Trebuchet MS"/>
              </a:rPr>
              <a:t>Mobile Application Development</a:t>
            </a:r>
            <a:r>
              <a:rPr sz="1200" b="1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	</a:t>
            </a:r>
            <a:r>
              <a:rPr lang="en-US" sz="1650" spc="-15" baseline="2525" dirty="0">
                <a:solidFill>
                  <a:srgbClr val="1E293A"/>
                </a:solidFill>
                <a:latin typeface="Calibri"/>
                <a:cs typeface="Calibri"/>
              </a:rPr>
              <a:t>Develop Android/iOS app for citizen FIR filing and real-time status tracking</a:t>
            </a:r>
          </a:p>
          <a:p>
            <a:pPr marL="273685">
              <a:lnSpc>
                <a:spcPct val="100000"/>
              </a:lnSpc>
              <a:tabLst>
                <a:tab pos="2651760" algn="l"/>
              </a:tabLst>
            </a:pPr>
            <a:endParaRPr sz="1650" baseline="2525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5282" y="3274878"/>
            <a:ext cx="8112759" cy="660400"/>
            <a:chOff x="495282" y="3274878"/>
            <a:chExt cx="8112759" cy="6604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3274878"/>
              <a:ext cx="8112286" cy="66031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8639" y="3291840"/>
              <a:ext cx="8046720" cy="594360"/>
            </a:xfrm>
            <a:custGeom>
              <a:avLst/>
              <a:gdLst/>
              <a:ahLst/>
              <a:cxnLst/>
              <a:rect l="l" t="t" r="r" b="b"/>
              <a:pathLst>
                <a:path w="8046720" h="594360">
                  <a:moveTo>
                    <a:pt x="8046720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8046720" y="594360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2960" y="3476320"/>
            <a:ext cx="191452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rgbClr val="0D9387"/>
                </a:solidFill>
                <a:latin typeface="Trebuchet MS"/>
                <a:cs typeface="Trebuchet MS"/>
              </a:rPr>
              <a:t>Multi-Station Network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1035" y="3400425"/>
            <a:ext cx="49307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1E293A"/>
                </a:solidFill>
                <a:latin typeface="Calibri"/>
                <a:cs typeface="Calibri"/>
              </a:rPr>
              <a:t>Expand system to support multiple police stations with inter-station FIR transfer</a:t>
            </a:r>
            <a:endParaRPr lang="en-US" sz="11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5282" y="3960678"/>
            <a:ext cx="8112759" cy="660400"/>
            <a:chOff x="495282" y="3960678"/>
            <a:chExt cx="8112759" cy="6604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82" y="3960678"/>
              <a:ext cx="8112286" cy="6603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8639" y="3977640"/>
              <a:ext cx="8046720" cy="594360"/>
            </a:xfrm>
            <a:custGeom>
              <a:avLst/>
              <a:gdLst/>
              <a:ahLst/>
              <a:cxnLst/>
              <a:rect l="l" t="t" r="r" b="b"/>
              <a:pathLst>
                <a:path w="8046720" h="594360">
                  <a:moveTo>
                    <a:pt x="8046720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8046720" y="594360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E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22960" y="4162755"/>
            <a:ext cx="18453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b="1" spc="-10" dirty="0">
                <a:solidFill>
                  <a:srgbClr val="0D9387"/>
                </a:solidFill>
                <a:latin typeface="Trebuchet MS"/>
                <a:cs typeface="Trebuchet MS"/>
              </a:rPr>
              <a:t>Biometric Integration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20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01035" y="4086555"/>
            <a:ext cx="46786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US" sz="1100" spc="-10" dirty="0">
                <a:solidFill>
                  <a:srgbClr val="1E293A"/>
                </a:solidFill>
                <a:latin typeface="Calibri"/>
                <a:cs typeface="Calibri"/>
              </a:rPr>
              <a:t>Add fingerprint and face recognition for accused identification and verification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21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AA6B2E-753D-B24D-DDCE-3D0D714A8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39" y="708659"/>
            <a:ext cx="8458199" cy="4406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Mohanty, S.P. et al. (2016) Using deep learning for image-based plant disease detection. Frontiers in Plant Science, 7, 1419.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2.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Ferentinos, K.P. (2018) Deep learning models for plant disease detection and diagnosis. Computers and Electronics in Agriculture, 145, 311-318.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3.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Tan, M. and Le, Q.V. (2019) EfficientNet: Rethinking model scaling for convolutional neural networks. ICML,     6105-6114.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He, K. et al. (2016) Deep residual learning for image recognition. CVPR, 770-778.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 xml:space="preserve">5. Hughes, D.P. and Salathe, M. (2015) An open access repository of images on plant health to enable the development of mobile disease diagnostics.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arXiv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 xml:space="preserve"> preprint arXiv:1511.08060.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 Too, E.C. et al. (2019) A comparative study of fine-tuning deep learning models for plant disease identification. Computers and Electronics in Agriculture, 161, 272-279.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7. LeCun, Y. et al. (2015) Deep learning. Nature, 521, 436-444.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8. Deng, J. et al. (2009) ImageNet: A large-scale hierarchical image database. CVPR, 248-255.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9. Selvaraju, R.R. et al. (2017) Grad-CAM: Visual explanations from deep networks. ICCV, 618-626.</a:t>
            </a:r>
          </a:p>
          <a:p>
            <a:pPr marL="0" marR="0" lvl="0" indent="0" algn="just" defTabSz="914400" rtl="0" eaLnBrk="0" fontAlgn="base" latinLnBrk="0" hangingPunct="0">
              <a:spcBef>
                <a:spcPts val="200"/>
              </a:spcBef>
              <a:spcAft>
                <a:spcPts val="2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10. Brahimi, M. et al. (2017) Deep learning for tomato diseases: Classification and symptoms visualization. Applied Artificial Intelligence, 31(4), 299-315.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References</a:t>
            </a:r>
            <a:r>
              <a:rPr spc="-135" dirty="0"/>
              <a:t xml:space="preserve"> </a:t>
            </a:r>
            <a:r>
              <a:rPr spc="-10" dirty="0"/>
              <a:t>(continued)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22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92F9AC0-A41B-F4B8-374B-2189A8E8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98" y="666260"/>
            <a:ext cx="8398002" cy="413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11. </a:t>
            </a:r>
            <a:r>
              <a:rPr lang="en-US" altLang="en-US" sz="1400" dirty="0" err="1">
                <a:solidFill>
                  <a:schemeClr val="tx1"/>
                </a:solidFill>
                <a:latin typeface="+mj-lt"/>
              </a:rPr>
              <a:t>Sladojevic</a:t>
            </a: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, S. et al. (2016) Deep neural networks based recognition of plant diseases by leaf image classification. Computational Intelligence and Neuroscience, 2016, 3289801.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12. Perez, L. and Wang, J. (2017) The effectiveness of data augmentation in image classification using deep learning. </a:t>
            </a:r>
            <a:r>
              <a:rPr lang="en-US" altLang="en-US" sz="1400" dirty="0" err="1">
                <a:solidFill>
                  <a:schemeClr val="tx1"/>
                </a:solidFill>
                <a:latin typeface="+mj-lt"/>
              </a:rPr>
              <a:t>arXiv</a:t>
            </a: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 preprint arXiv:1712.04621.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13. Shorten, C. and </a:t>
            </a:r>
            <a:r>
              <a:rPr lang="en-US" altLang="en-US" sz="1400" dirty="0" err="1">
                <a:solidFill>
                  <a:schemeClr val="tx1"/>
                </a:solidFill>
                <a:latin typeface="+mj-lt"/>
              </a:rPr>
              <a:t>Khoshgoftaar</a:t>
            </a: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, T.M. (2019) A survey on image data augmentation for deep learning. Journal of Big Data, 6(1), 60.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14. Liu, B. and Zhang, Y. (2022) Vision transformer-based plant disease classification using deep learning. Frontiers in Plant Science, 13.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15. Zhang, X. et al. (2023) Self-supervised contrastive learning for plant disease recognition. IEEE Transactions on Artificial Intelligence, 4(2), 221-230.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16. Ferentinos, K.P. (2018) Deep learning models for plant disease detection and diagnosis. Computers and Electronics in Agriculture, 145, 311-318.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17. Food and Agriculture Organization (FAO) (2020) The state of food and agriculture: Challenges in crop disease management. FAO Technical Report. 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en-US" sz="1400" dirty="0">
                <a:solidFill>
                  <a:schemeClr val="tx1"/>
                </a:solidFill>
                <a:latin typeface="+mj-lt"/>
              </a:rPr>
              <a:t xml:space="preserve">18. Codella, N.C. et al. (2017) Deep learning ensembles for plant disease recognition and classification. IEEE Access, 5, 27291-27306.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Conference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7380" y="886145"/>
            <a:ext cx="3432810" cy="342914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500" b="1" dirty="0">
                <a:solidFill>
                  <a:srgbClr val="0D9387"/>
                </a:solidFill>
                <a:latin typeface="Trebuchet MS"/>
                <a:cs typeface="Trebuchet MS"/>
              </a:rPr>
              <a:t>Conference</a:t>
            </a:r>
            <a:r>
              <a:rPr sz="1500" b="1" spc="-95" dirty="0">
                <a:solidFill>
                  <a:srgbClr val="0D9387"/>
                </a:solidFill>
                <a:latin typeface="Trebuchet MS"/>
                <a:cs typeface="Trebuchet MS"/>
              </a:rPr>
              <a:t xml:space="preserve"> </a:t>
            </a:r>
            <a:r>
              <a:rPr sz="1500" b="1" spc="-10" dirty="0">
                <a:solidFill>
                  <a:srgbClr val="0D9387"/>
                </a:solidFill>
                <a:latin typeface="Trebuchet MS"/>
                <a:cs typeface="Trebuchet MS"/>
              </a:rPr>
              <a:t>Details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Conference</a:t>
            </a:r>
            <a:r>
              <a:rPr sz="1200" b="1" spc="-1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200" b="1" spc="-20" dirty="0">
                <a:solidFill>
                  <a:srgbClr val="0E2B46"/>
                </a:solidFill>
                <a:latin typeface="Calibri"/>
                <a:cs typeface="Calibri"/>
              </a:rPr>
              <a:t>Name: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5"/>
              </a:spcBef>
            </a:pP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International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Conference</a:t>
            </a:r>
            <a:r>
              <a:rPr sz="1100" spc="-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 xml:space="preserve">on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AI-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Driven</a:t>
            </a:r>
            <a:r>
              <a:rPr sz="1100" spc="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Intelligent</a:t>
            </a:r>
            <a:r>
              <a:rPr sz="1100" spc="-3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 xml:space="preserve">Systems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Sustainable</a:t>
            </a:r>
            <a:r>
              <a:rPr sz="1100" spc="-3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Engineering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Technologies</a:t>
            </a:r>
            <a:r>
              <a:rPr sz="1100" spc="-5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 xml:space="preserve">(INNOVATE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2026)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Date: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24th</a:t>
            </a:r>
            <a:r>
              <a:rPr sz="1100" spc="-3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April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>2026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 xml:space="preserve">Organized </a:t>
            </a:r>
            <a:r>
              <a:rPr sz="1200" b="1" spc="-25" dirty="0">
                <a:solidFill>
                  <a:srgbClr val="0E2B46"/>
                </a:solidFill>
                <a:latin typeface="Calibri"/>
                <a:cs typeface="Calibri"/>
              </a:rPr>
              <a:t>by: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Kamaraj</a:t>
            </a:r>
            <a:r>
              <a:rPr sz="1100" spc="-2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College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 xml:space="preserve">of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Engineering</a:t>
            </a:r>
            <a:r>
              <a:rPr sz="1100" spc="-1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100" spc="5" dirty="0">
                <a:solidFill>
                  <a:srgbClr val="1E293A"/>
                </a:solidFill>
                <a:latin typeface="Calibri"/>
                <a:cs typeface="Calibri"/>
              </a:rPr>
              <a:t xml:space="preserve"> </a:t>
            </a:r>
            <a:r>
              <a:rPr sz="1100" spc="-10" dirty="0">
                <a:solidFill>
                  <a:srgbClr val="1E293A"/>
                </a:solidFill>
                <a:latin typeface="Calibri"/>
                <a:cs typeface="Calibri"/>
              </a:rPr>
              <a:t>Technology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dirty="0">
                <a:solidFill>
                  <a:srgbClr val="0E2B46"/>
                </a:solidFill>
                <a:latin typeface="Calibri"/>
                <a:cs typeface="Calibri"/>
              </a:rPr>
              <a:t>Paper</a:t>
            </a:r>
            <a:r>
              <a:rPr sz="1200" b="1" spc="-45" dirty="0">
                <a:solidFill>
                  <a:srgbClr val="0E2B46"/>
                </a:solidFill>
                <a:latin typeface="Calibri"/>
                <a:cs typeface="Calibri"/>
              </a:rPr>
              <a:t xml:space="preserve"> </a:t>
            </a: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Title:</a:t>
            </a:r>
            <a:endParaRPr sz="1200" dirty="0">
              <a:latin typeface="Calibri"/>
              <a:cs typeface="Calibri"/>
            </a:endParaRPr>
          </a:p>
          <a:p>
            <a:pPr marL="12700" marR="422275">
              <a:lnSpc>
                <a:spcPct val="10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E293A"/>
                </a:solidFill>
                <a:latin typeface="Calibri"/>
                <a:cs typeface="Calibri"/>
              </a:rPr>
              <a:t>EfficientNet-Based Deep Learning Framework for Automated Tomato Leaf Disease Detection in Precision Agriculture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-10" dirty="0">
                <a:solidFill>
                  <a:srgbClr val="0E2B46"/>
                </a:solidFill>
                <a:latin typeface="Calibri"/>
                <a:cs typeface="Calibri"/>
              </a:rPr>
              <a:t>Authors:</a:t>
            </a:r>
            <a:endParaRPr lang="en-IN" sz="1200" b="1" spc="-10" dirty="0">
              <a:solidFill>
                <a:srgbClr val="0E2B46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lang="en-IN" sz="1100" dirty="0">
                <a:solidFill>
                  <a:srgbClr val="1E293A"/>
                </a:solidFill>
                <a:latin typeface="Calibri"/>
                <a:cs typeface="Calibri"/>
              </a:rPr>
              <a:t xml:space="preserve">Mohamed Akram S, </a:t>
            </a:r>
            <a:r>
              <a:rPr lang="en-IN" sz="1100" dirty="0" err="1">
                <a:solidFill>
                  <a:srgbClr val="1E293A"/>
                </a:solidFill>
                <a:latin typeface="Calibri"/>
                <a:cs typeface="Calibri"/>
              </a:rPr>
              <a:t>Seethamani</a:t>
            </a:r>
            <a:r>
              <a:rPr lang="en-IN" sz="1100" dirty="0">
                <a:solidFill>
                  <a:srgbClr val="1E293A"/>
                </a:solidFill>
                <a:latin typeface="Calibri"/>
                <a:cs typeface="Calibri"/>
              </a:rPr>
              <a:t xml:space="preserve"> P, Mukilan R, KarthickRaj S, LogeshKumar S</a:t>
            </a:r>
            <a:endParaRPr lang="en-IN"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23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DEEE1F-D31C-5A24-4B86-384327D84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99" y="886144"/>
            <a:ext cx="4616959" cy="34030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Paper</a:t>
            </a:r>
            <a:r>
              <a:rPr spc="-190" dirty="0"/>
              <a:t xml:space="preserve"> </a:t>
            </a:r>
            <a:r>
              <a:rPr spc="-10" dirty="0"/>
              <a:t>Publication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60119" y="708659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29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/>
              <a:t>24</a:t>
            </a:fld>
            <a:r>
              <a:rPr spc="-15" dirty="0"/>
              <a:t xml:space="preserve"> </a:t>
            </a:r>
            <a:r>
              <a:rPr dirty="0"/>
              <a:t>/</a:t>
            </a:r>
            <a:r>
              <a:rPr spc="-10" dirty="0"/>
              <a:t xml:space="preserve"> </a:t>
            </a:r>
            <a:r>
              <a:rPr spc="-25" dirty="0"/>
              <a:t>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4C1CE-E615-0894-16C6-3B69A20537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708659"/>
            <a:ext cx="3733800" cy="41523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9983" y="2323591"/>
            <a:ext cx="1976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135" dirty="0"/>
              <a:t xml:space="preserve"> </a:t>
            </a:r>
            <a:r>
              <a:rPr spc="-25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3515740" y="2827782"/>
            <a:ext cx="914400" cy="36830"/>
          </a:xfrm>
          <a:custGeom>
            <a:avLst/>
            <a:gdLst/>
            <a:ahLst/>
            <a:cxnLst/>
            <a:rect l="l" t="t" r="r" b="b"/>
            <a:pathLst>
              <a:path w="914400" h="36830">
                <a:moveTo>
                  <a:pt x="914400" y="0"/>
                </a:moveTo>
                <a:lnTo>
                  <a:pt x="0" y="0"/>
                </a:lnTo>
                <a:lnTo>
                  <a:pt x="0" y="36575"/>
                </a:lnTo>
                <a:lnTo>
                  <a:pt x="914400" y="36575"/>
                </a:lnTo>
                <a:lnTo>
                  <a:pt x="914400" y="0"/>
                </a:lnTo>
                <a:close/>
              </a:path>
            </a:pathLst>
          </a:custGeom>
          <a:solidFill>
            <a:srgbClr val="0D938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1990</Words>
  <Application>Microsoft Office PowerPoint</Application>
  <PresentationFormat>On-screen Show (16:9)</PresentationFormat>
  <Paragraphs>318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Abstract</vt:lpstr>
      <vt:lpstr>Domain Introduction</vt:lpstr>
      <vt:lpstr>Literature Survey</vt:lpstr>
      <vt:lpstr>Gap in Existing Systems</vt:lpstr>
      <vt:lpstr>System Design</vt:lpstr>
      <vt:lpstr>System Architecture</vt:lpstr>
      <vt:lpstr>System Implementation</vt:lpstr>
      <vt:lpstr>Module 1: Image Upload &amp; Validation</vt:lpstr>
      <vt:lpstr>Module 2: EfficientNet Classification</vt:lpstr>
      <vt:lpstr>Module 3: Dataset &amp; Preprocessing</vt:lpstr>
      <vt:lpstr>Module 4: Attention Map Visualization</vt:lpstr>
      <vt:lpstr>Module 5: Prevention and Treatment</vt:lpstr>
      <vt:lpstr>Testing Coverage</vt:lpstr>
      <vt:lpstr>API Endpoints &amp; Testing</vt:lpstr>
      <vt:lpstr>Results: Performance Comparison</vt:lpstr>
      <vt:lpstr>Results: Detailed Analysis</vt:lpstr>
      <vt:lpstr>Model Complexity Comparison</vt:lpstr>
      <vt:lpstr>Conclusion</vt:lpstr>
      <vt:lpstr>Future Work</vt:lpstr>
      <vt:lpstr>References</vt:lpstr>
      <vt:lpstr>References (continued)</vt:lpstr>
      <vt:lpstr>Conference</vt:lpstr>
      <vt:lpstr>Paper Publication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 A</dc:creator>
  <cp:lastModifiedBy>Mukesh kannan .V</cp:lastModifiedBy>
  <cp:revision>5</cp:revision>
  <dcterms:created xsi:type="dcterms:W3CDTF">2026-05-23T05:41:39Z</dcterms:created>
  <dcterms:modified xsi:type="dcterms:W3CDTF">2026-05-24T07:14:47Z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2026-05-23T00:00:00Z</vt:filetime>
  </property>
  <property fmtid="{D5CDD505-2E9C-101B-9397-08002B2CF9AE}" pid="5" name="Producer">
    <vt:lpwstr>Microsoft® PowerPoint® for Microsoft 365</vt:lpwstr>
  </property>
</Properties>
</file>